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F2A24"/>
                </a:solidFill>
                <a:latin typeface="+mn-lt"/>
              </a:defRPr>
            </a:pPr>
            <a:r>
              <a:rPr sz="1600" b="0" i="0" u="none" strike="noStrike">
                <a:solidFill>
                  <a:srgbClr val="1F2A24"/>
                </a:solidFill>
                <a:latin typeface="+mn-lt"/>
              </a:rPr>
              <a:t>Messages per stage</a:t>
            </a:r>
          </a:p>
        </c:rich>
      </c:tx>
      <c:layout/>
      <c:overlay val="0"/>
    </c:title>
    <c:autoTitleDeleted val="0"/>
    <c:plotArea>
      <c:layout/>
      <c:barChart>
        <c:barDir val="col"/>
        <c:grouping val="clustered"/>
        <c:varyColors val="0"/>
        <c:ser>
          <c:idx val="0"/>
          <c:order val="0"/>
          <c:tx>
            <c:strRef>
              <c:f>Sheet1!$B$1</c:f>
              <c:strCache>
                <c:ptCount val="1"/>
                <c:pt idx="0">
                  <c:v>Run 1</c:v>
                </c:pt>
              </c:strCache>
            </c:strRef>
          </c:tx>
          <c:spPr>
            <a:solidFill>
              <a:srgbClr val="B4442F"/>
            </a:solidFill>
            <a:effectLst/>
          </c:spPr>
          <c:invertIfNegative val="0"/>
          <c:dLbls>
            <c:numFmt formatCode="#,##0" sourceLinked="0"/>
            <c:txPr>
              <a:bodyPr/>
              <a:lstStyle/>
              <a:p>
                <a:pPr>
                  <a:defRPr b="0" i="0" strike="noStrike" sz="1100" u="none">
                    <a:solidFill>
                      <a:srgbClr val="1F2A24"/>
                    </a:solidFill>
                    <a:latin typeface="+mn-lt"/>
                  </a:defRPr>
                </a:pPr>
              </a:p>
            </c:txPr>
            <c:showLegendKey val="0"/>
            <c:showVal val="1"/>
            <c:showCatName val="0"/>
            <c:showSerName val="0"/>
            <c:showPercent val="0"/>
            <c:showBubbleSize val="0"/>
            <c:showLeaderLines val="0"/>
          </c:dLbls>
          <c:cat>
            <c:multiLvlStrRef>
              <c:f>Sheet1!$A$2:$A$5</c:f>
              <c:multiLvlStrCache>
                <c:ptCount val="4"/>
                <c:lvl>
                  <c:pt idx="0">
                    <c:v>Stage 1</c:v>
                  </c:pt>
                  <c:pt idx="1">
                    <c:v>Stage 2</c:v>
                  </c:pt>
                  <c:pt idx="2">
                    <c:v>Stage 3</c:v>
                  </c:pt>
                  <c:pt idx="3">
                    <c:v>Stage 4</c:v>
                  </c:pt>
                </c:lvl>
              </c:multiLvlStrCache>
            </c:multiLvlStrRef>
          </c:cat>
          <c:val>
            <c:numRef>
              <c:f>Sheet1!$B$2:$B$5</c:f>
              <c:numCache>
                <c:formatCode>General</c:formatCode>
                <c:ptCount val="4"/>
                <c:pt idx="0">
                  <c:v>2226</c:v>
                </c:pt>
                <c:pt idx="1">
                  <c:v>3513</c:v>
                </c:pt>
                <c:pt idx="2">
                  <c:v>3000</c:v>
                </c:pt>
                <c:pt idx="3">
                  <c:v>2314</c:v>
                </c:pt>
              </c:numCache>
            </c:numRef>
          </c:val>
        </c:ser>
        <c:ser>
          <c:idx val="1"/>
          <c:order val="1"/>
          <c:tx>
            <c:strRef>
              <c:f>Sheet1!$C$1</c:f>
              <c:strCache>
                <c:ptCount val="1"/>
                <c:pt idx="0">
                  <c:v>Run 2</c:v>
                </c:pt>
              </c:strCache>
            </c:strRef>
          </c:tx>
          <c:spPr>
            <a:solidFill>
              <a:srgbClr val="2D6E50"/>
            </a:solidFill>
            <a:effectLst/>
          </c:spPr>
          <c:invertIfNegative val="0"/>
          <c:dLbls>
            <c:numFmt formatCode="#,##0" sourceLinked="0"/>
            <c:txPr>
              <a:bodyPr/>
              <a:lstStyle/>
              <a:p>
                <a:pPr>
                  <a:defRPr b="0" i="0" strike="noStrike" sz="1100" u="none">
                    <a:solidFill>
                      <a:srgbClr val="1F2A24"/>
                    </a:solidFill>
                    <a:latin typeface="+mn-lt"/>
                  </a:defRPr>
                </a:pPr>
              </a:p>
            </c:txPr>
            <c:showLegendKey val="0"/>
            <c:showVal val="1"/>
            <c:showCatName val="0"/>
            <c:showSerName val="0"/>
            <c:showPercent val="0"/>
            <c:showBubbleSize val="0"/>
            <c:showLeaderLines val="0"/>
          </c:dLbls>
          <c:cat>
            <c:multiLvlStrRef>
              <c:f>Sheet1!$A$2:$A$5</c:f>
              <c:multiLvlStrCache>
                <c:ptCount val="4"/>
                <c:lvl>
                  <c:pt idx="0">
                    <c:v>Stage 1</c:v>
                  </c:pt>
                  <c:pt idx="1">
                    <c:v>Stage 2</c:v>
                  </c:pt>
                  <c:pt idx="2">
                    <c:v>Stage 3</c:v>
                  </c:pt>
                  <c:pt idx="3">
                    <c:v>Stage 4</c:v>
                  </c:pt>
                </c:lvl>
              </c:multiLvlStrCache>
            </c:multiLvlStrRef>
          </c:cat>
          <c:val>
            <c:numRef>
              <c:f>Sheet1!$C$2:$C$5</c:f>
              <c:numCache>
                <c:formatCode>General</c:formatCode>
                <c:ptCount val="4"/>
                <c:pt idx="0">
                  <c:v>2607</c:v>
                </c:pt>
                <c:pt idx="1">
                  <c:v>4621</c:v>
                </c:pt>
                <c:pt idx="2">
                  <c:v>3768</c:v>
                </c:pt>
                <c:pt idx="3">
                  <c:v>3186</c:v>
                </c:pt>
              </c:numCache>
            </c:numRef>
          </c:val>
        </c:ser>
        <c:dLbls>
          <c:numFmt formatCode="#,##0" sourceLinked="0"/>
          <c:txPr>
            <a:bodyPr/>
            <a:lstStyle/>
            <a:p>
              <a:pPr>
                <a:defRPr b="0" i="0" strike="noStrike" sz="1100" u="none">
                  <a:solidFill>
                    <a:srgbClr val="1F2A2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A24"/>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D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45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A2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CoolHackers, and this is Pebble, our entry in the pocketful track. Pebble is a small shared-pot payments service built in four stages by five AI agents, from one human dispatch. The one idea we want you to take away: adding agents does not add parallelism. Adding coordination does. We ran the same build twice, and the only thing we changed between the runs was how the agents coordinate.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numbers from run 2. All four stages verified, five seats, one dispatch, and no human message after it. In run 1 we needed five. Every one of the 160 commits was made by an agent under its own name. The honest part is in orange: 29.8 hours of wall-clock, about nine of them waiting for Claude session limits to reset, and about 25 dollars of Featherless spend. We will come back to those.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seats. The coordinator plans and routes. The developer writes code. The tester writes an independent acceptance suite. The reviewer is the only seat that merges. And the timekeeper is a script, not a model. In the current design we route models by reasoning load: the high-reasoning seats, coordinator and reviewer, run on Claude Sonnet, because planning and review are where reasoning pays off, and the lower-reasoning, high-volume seats, developer and tester, run on a cheaper model, because that is where most of the tokens go. The routing is fixed per seat. Making it dynamic is our first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design had ten seats, mirroring a human org chart. A three-seat toy rehearsal showed the cost was coordination, not capacity: 12 dollars 40 for about a stage and a half. So we cut to four model seats plus the clock. An architect is a responsibility, not a seat. On the right, the principle behind the rest of the redesign: human teams sync often because people can't hold the whole system in their heads. Agents can, so we use larger review units, hard preconditions instead of polite priorities, and a timekeeper that stays quiet when nothing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run 1, stage 2, the reviewer rejected batch 2 with two defects. The developer kept building on that tip, so batches 3, 4 and 5 were all stacked on unfixed code, and the reviewer had to say so three times. The painful detail: the developer mandate already said a rejection takes priority over everything. A priority rule the agent cannot check mechanically did not hold. The fix was first verified good three and a half hours later, and still couldn't merge because its base was stale.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change, quoted from the mandates. First, a batch starts only when every batch it builds on is merged into main, so a batch sitting on a rejected batch is not ready and never starts. Second, one branch per batch, always created from the latest main. Third, the coordinator plans the dependency graph, with at least two batches able to start in parallel where the design allows. Stage 2 and 3 do exactly that, and stages 1 and 4 record why they can't. We moved from advice to preconditions.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counted from the room logs. Human messages after the dispatch: five down to zero. Timekeeper ticks fired while the room was healthy: 49 of 65 in run 1, one of 42 in run 2. The stacked-on-a-rejected-batch pattern, four messages in run 1, zero in run 2. A rejection used to take three and a half hours to fix and still couldn't merge, now the median is fifteen minutes. The room no longer fills up, because each stage gets its own room, and the handover is automated.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1's UI looked functional but clumsy, because endpoint tests passed while nobody looked at the page. Now the reviewer mandate requires screenshots of every changed screen at phone and desktop width, in every state the spec names, committed to the repo. There are 35 of them. On the left, the phone view of a payment whose response was lost: the app says it could not confirm the payment and retries with the same idempotency key, so money never moves twice. On the right, the desktop wallet with a hold: available balance, total balance, and the held amount. A UI defect was caught this way in stage 2 and the fixed screenshot is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 work is caught at different points, by different seats. The tester's completeness review catches contradictory requirements before any code exists. The reviewer's own probes catch bugs that the developer's unit tests miss. Screenshots catch UI defects. Stress probes catch data integrity problems. And before any stage report, a close-out gate: every seat must answer clear, no branch left unmerged, every handoff answered. At the end of stage 4 that gate caught a stale label in the run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want to oversell. Run 2 spent more, not less: 28 percent more messages, about four more hours, and roughly 25 dollars against 10 fifty. It bought verification: screenshots, visual review, close-out and a full handover per room. Claude session limits cost about 30 percent of wall-clock in both runs, and the seats resumed on their own within about 25 minutes of each reset. The big cost win came earlier, from moving the developer and tester to GLM 5.3 Flash: about 8 dollars per stage in the toy run to about 2 dollars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what we would do next. First, route the model per task at run time. Today the choice is fixed per seat. For complex work such as UI, the developer and tester should use a more advanced model, and simple tasks stay on the cheaper one. We expect cost to rise, but time to fall and quality to improve; we have not measured that yet. Second, fix the stalls: a failover model for the Claude seats, and a timekeeper that reads the limit's reset time. Stale-branch rebases are reduced but not gone. And the mandates name no product, stack or track, so the same factory can be pointed at a different problem with a new dispatch. The repo, with the README to run it and FACTORY.md with every number and message id behind this deck, is on screen.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433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109728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5BF"/>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3F4F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3200" b="1" dirty="0">
                <a:solidFill>
                  <a:srgbClr val="1B433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8E"/>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5B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640080"/>
            <a:ext cx="8229600" cy="365760"/>
          </a:xfrm>
          <a:prstGeom prst="rect">
            <a:avLst/>
          </a:prstGeom>
          <a:noFill/>
          <a:ln/>
        </p:spPr>
        <p:txBody>
          <a:bodyPr wrap="square" lIns="0" tIns="0" rIns="0" bIns="0" rtlCol="0" anchor="t"/>
          <a:lstStyle/>
          <a:p>
            <a:pPr indent="0" marL="0">
              <a:buNone/>
            </a:pPr>
            <a:r>
              <a:rPr lang="en-US" sz="1600" dirty="0">
                <a:solidFill>
                  <a:srgbClr val="A8D5BF"/>
                </a:solidFill>
                <a:latin typeface="Calibri" pitchFamily="34" charset="0"/>
                <a:ea typeface="Calibri" pitchFamily="34" charset="-122"/>
                <a:cs typeface="Calibri" pitchFamily="34" charset="-120"/>
              </a:rPr>
              <a:t>WeAreDevelopers × BAND Dark Factory · pocketful track</a:t>
            </a:r>
            <a:endParaRPr lang="en-US" sz="1600" dirty="0"/>
          </a:p>
        </p:txBody>
      </p:sp>
      <p:sp>
        <p:nvSpPr>
          <p:cNvPr id="3" name="Text 1"/>
          <p:cNvSpPr txBox="1"/>
          <p:nvPr/>
        </p:nvSpPr>
        <p:spPr>
          <a:xfrm>
            <a:off x="548640" y="1371600"/>
            <a:ext cx="8229600" cy="1188720"/>
          </a:xfrm>
          <a:prstGeom prst="rect">
            <a:avLst/>
          </a:prstGeom>
          <a:noFill/>
          <a:ln/>
        </p:spPr>
        <p:txBody>
          <a:bodyPr wrap="square" lIns="0" tIns="0" rIns="0" bIns="0" rtlCol="0" anchor="t"/>
          <a:lstStyle/>
          <a:p>
            <a:pPr indent="0" marL="0">
              <a:buNone/>
            </a:pPr>
            <a:r>
              <a:rPr lang="en-US" sz="7200" b="1" dirty="0">
                <a:solidFill>
                  <a:srgbClr val="FFFFFF"/>
                </a:solidFill>
                <a:latin typeface="Cambria" pitchFamily="34" charset="0"/>
                <a:ea typeface="Cambria" pitchFamily="34" charset="-122"/>
                <a:cs typeface="Cambria" pitchFamily="34" charset="-120"/>
              </a:rPr>
              <a:t>Pebble</a:t>
            </a:r>
            <a:endParaRPr lang="en-US" sz="7200" dirty="0"/>
          </a:p>
        </p:txBody>
      </p:sp>
      <p:sp>
        <p:nvSpPr>
          <p:cNvPr id="4" name="Text 2"/>
          <p:cNvSpPr txBox="1"/>
          <p:nvPr/>
        </p:nvSpPr>
        <p:spPr>
          <a:xfrm>
            <a:off x="548640" y="2743200"/>
            <a:ext cx="9601200" cy="1280160"/>
          </a:xfrm>
          <a:prstGeom prst="rect">
            <a:avLst/>
          </a:prstGeom>
          <a:noFill/>
          <a:ln/>
        </p:spPr>
        <p:txBody>
          <a:bodyPr wrap="square" lIns="0" tIns="0" rIns="0" bIns="0" rtlCol="0" anchor="t"/>
          <a:lstStyle/>
          <a:p>
            <a:pPr indent="0" marL="0">
              <a:buNone/>
            </a:pPr>
            <a:r>
              <a:rPr lang="en-US" sz="3200" dirty="0">
                <a:solidFill>
                  <a:srgbClr val="FFFFFF"/>
                </a:solidFill>
                <a:latin typeface="Cambria" pitchFamily="34" charset="0"/>
                <a:ea typeface="Cambria" pitchFamily="34" charset="-122"/>
                <a:cs typeface="Cambria" pitchFamily="34" charset="-120"/>
              </a:rPr>
              <a:t>Adding agents does not add parallelism.</a:t>
            </a:r>
            <a:endParaRPr lang="en-US" sz="3200" dirty="0"/>
          </a:p>
          <a:p>
            <a:pPr indent="0" marL="0">
              <a:buNone/>
            </a:pPr>
            <a:r>
              <a:rPr lang="en-US" sz="3200" dirty="0">
                <a:solidFill>
                  <a:srgbClr val="FFFFFF"/>
                </a:solidFill>
                <a:latin typeface="Cambria" pitchFamily="34" charset="0"/>
                <a:ea typeface="Cambria" pitchFamily="34" charset="-122"/>
                <a:cs typeface="Cambria" pitchFamily="34" charset="-120"/>
              </a:rPr>
              <a:t>Adding coordination does.</a:t>
            </a:r>
            <a:endParaRPr lang="en-US" sz="3200" dirty="0"/>
          </a:p>
        </p:txBody>
      </p:sp>
      <p:sp>
        <p:nvSpPr>
          <p:cNvPr id="5" name="Text 3"/>
          <p:cNvSpPr txBox="1"/>
          <p:nvPr/>
        </p:nvSpPr>
        <p:spPr>
          <a:xfrm>
            <a:off x="548640" y="4160520"/>
            <a:ext cx="8229600" cy="365760"/>
          </a:xfrm>
          <a:prstGeom prst="rect">
            <a:avLst/>
          </a:prstGeom>
          <a:noFill/>
          <a:ln/>
        </p:spPr>
        <p:txBody>
          <a:bodyPr wrap="square" lIns="0" tIns="0" rIns="0" bIns="0" rtlCol="0" anchor="t"/>
          <a:lstStyle/>
          <a:p>
            <a:pPr indent="0" marL="0">
              <a:buNone/>
            </a:pPr>
            <a:r>
              <a:rPr lang="en-US" sz="1800" dirty="0">
                <a:solidFill>
                  <a:srgbClr val="A8D5BF"/>
                </a:solidFill>
                <a:latin typeface="Calibri" pitchFamily="34" charset="0"/>
                <a:ea typeface="Calibri" pitchFamily="34" charset="-122"/>
                <a:cs typeface="Calibri" pitchFamily="34" charset="-120"/>
              </a:rPr>
              <a:t>Four stages · five agents · one dispatch</a:t>
            </a:r>
            <a:endParaRPr lang="en-US" sz="1800" dirty="0"/>
          </a:p>
        </p:txBody>
      </p:sp>
      <p:sp>
        <p:nvSpPr>
          <p:cNvPr id="6" name="dot C"/>
          <p:cNvSpPr/>
          <p:nvPr/>
        </p:nvSpPr>
        <p:spPr>
          <a:xfrm>
            <a:off x="548640" y="4983480"/>
            <a:ext cx="822960" cy="822960"/>
          </a:xfrm>
          <a:prstGeom prst="ellipse">
            <a:avLst/>
          </a:prstGeom>
          <a:solidFill>
            <a:srgbClr val="A8D5BF"/>
          </a:solidFill>
          <a:ln w="12700">
            <a:solidFill>
              <a:srgbClr val="A8D5BF"/>
            </a:solidFill>
            <a:prstDash val="solid"/>
          </a:ln>
        </p:spPr>
      </p:sp>
      <p:sp>
        <p:nvSpPr>
          <p:cNvPr id="7" name="Text 5"/>
          <p:cNvSpPr txBox="1"/>
          <p:nvPr/>
        </p:nvSpPr>
        <p:spPr>
          <a:xfrm>
            <a:off x="548640" y="4983480"/>
            <a:ext cx="822960" cy="822960"/>
          </a:xfrm>
          <a:prstGeom prst="rect">
            <a:avLst/>
          </a:prstGeom>
          <a:noFill/>
          <a:ln/>
        </p:spPr>
        <p:txBody>
          <a:bodyPr wrap="square" lIns="0" tIns="0" rIns="0" bIns="0" rtlCol="0" anchor="ctr"/>
          <a:lstStyle/>
          <a:p>
            <a:pPr algn="ctr" indent="0" marL="0">
              <a:buNone/>
            </a:pPr>
            <a:r>
              <a:rPr lang="en-US" sz="2800" b="1" dirty="0">
                <a:solidFill>
                  <a:srgbClr val="1B4332"/>
                </a:solidFill>
                <a:latin typeface="Calibri" pitchFamily="34" charset="0"/>
                <a:ea typeface="Calibri" pitchFamily="34" charset="-122"/>
                <a:cs typeface="Calibri" pitchFamily="34" charset="-120"/>
              </a:rPr>
              <a:t>C</a:t>
            </a:r>
            <a:endParaRPr lang="en-US" sz="2800" dirty="0"/>
          </a:p>
        </p:txBody>
      </p:sp>
      <p:sp>
        <p:nvSpPr>
          <p:cNvPr id="8" name="Text 6"/>
          <p:cNvSpPr txBox="1"/>
          <p:nvPr/>
        </p:nvSpPr>
        <p:spPr>
          <a:xfrm>
            <a:off x="1463040" y="5212080"/>
            <a:ext cx="128016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coordinator</a:t>
            </a:r>
            <a:endParaRPr lang="en-US" sz="1600" dirty="0"/>
          </a:p>
        </p:txBody>
      </p:sp>
      <p:sp>
        <p:nvSpPr>
          <p:cNvPr id="9" name="dot D"/>
          <p:cNvSpPr/>
          <p:nvPr/>
        </p:nvSpPr>
        <p:spPr>
          <a:xfrm>
            <a:off x="2788920" y="4983480"/>
            <a:ext cx="822960" cy="822960"/>
          </a:xfrm>
          <a:prstGeom prst="ellipse">
            <a:avLst/>
          </a:prstGeom>
          <a:solidFill>
            <a:srgbClr val="2D6E50"/>
          </a:solidFill>
          <a:ln w="12700">
            <a:solidFill>
              <a:srgbClr val="2D6E50"/>
            </a:solidFill>
            <a:prstDash val="solid"/>
          </a:ln>
        </p:spPr>
      </p:sp>
      <p:sp>
        <p:nvSpPr>
          <p:cNvPr id="10" name="Text 8"/>
          <p:cNvSpPr txBox="1"/>
          <p:nvPr/>
        </p:nvSpPr>
        <p:spPr>
          <a:xfrm>
            <a:off x="2788920" y="49834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D</a:t>
            </a:r>
            <a:endParaRPr lang="en-US" sz="2800" dirty="0"/>
          </a:p>
        </p:txBody>
      </p:sp>
      <p:sp>
        <p:nvSpPr>
          <p:cNvPr id="11" name="Text 9"/>
          <p:cNvSpPr txBox="1"/>
          <p:nvPr/>
        </p:nvSpPr>
        <p:spPr>
          <a:xfrm>
            <a:off x="3703320" y="5212080"/>
            <a:ext cx="128016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developer</a:t>
            </a:r>
            <a:endParaRPr lang="en-US" sz="1600" dirty="0"/>
          </a:p>
        </p:txBody>
      </p:sp>
      <p:sp>
        <p:nvSpPr>
          <p:cNvPr id="12" name="dot T"/>
          <p:cNvSpPr/>
          <p:nvPr/>
        </p:nvSpPr>
        <p:spPr>
          <a:xfrm>
            <a:off x="5029200" y="4983480"/>
            <a:ext cx="822960" cy="822960"/>
          </a:xfrm>
          <a:prstGeom prst="ellipse">
            <a:avLst/>
          </a:prstGeom>
          <a:solidFill>
            <a:srgbClr val="A8D5BF"/>
          </a:solidFill>
          <a:ln w="12700">
            <a:solidFill>
              <a:srgbClr val="A8D5BF"/>
            </a:solidFill>
            <a:prstDash val="solid"/>
          </a:ln>
        </p:spPr>
      </p:sp>
      <p:sp>
        <p:nvSpPr>
          <p:cNvPr id="13" name="Text 11"/>
          <p:cNvSpPr txBox="1"/>
          <p:nvPr/>
        </p:nvSpPr>
        <p:spPr>
          <a:xfrm>
            <a:off x="5029200" y="4983480"/>
            <a:ext cx="822960" cy="822960"/>
          </a:xfrm>
          <a:prstGeom prst="rect">
            <a:avLst/>
          </a:prstGeom>
          <a:noFill/>
          <a:ln/>
        </p:spPr>
        <p:txBody>
          <a:bodyPr wrap="square" lIns="0" tIns="0" rIns="0" bIns="0" rtlCol="0" anchor="ctr"/>
          <a:lstStyle/>
          <a:p>
            <a:pPr algn="ctr" indent="0" marL="0">
              <a:buNone/>
            </a:pPr>
            <a:r>
              <a:rPr lang="en-US" sz="2800" b="1" dirty="0">
                <a:solidFill>
                  <a:srgbClr val="1B4332"/>
                </a:solidFill>
                <a:latin typeface="Calibri" pitchFamily="34" charset="0"/>
                <a:ea typeface="Calibri" pitchFamily="34" charset="-122"/>
                <a:cs typeface="Calibri" pitchFamily="34" charset="-120"/>
              </a:rPr>
              <a:t>T</a:t>
            </a:r>
            <a:endParaRPr lang="en-US" sz="2800" dirty="0"/>
          </a:p>
        </p:txBody>
      </p:sp>
      <p:sp>
        <p:nvSpPr>
          <p:cNvPr id="14" name="Text 12"/>
          <p:cNvSpPr txBox="1"/>
          <p:nvPr/>
        </p:nvSpPr>
        <p:spPr>
          <a:xfrm>
            <a:off x="5943600" y="5212080"/>
            <a:ext cx="128016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tester</a:t>
            </a:r>
            <a:endParaRPr lang="en-US" sz="1600" dirty="0"/>
          </a:p>
        </p:txBody>
      </p:sp>
      <p:sp>
        <p:nvSpPr>
          <p:cNvPr id="15" name="dot R"/>
          <p:cNvSpPr/>
          <p:nvPr/>
        </p:nvSpPr>
        <p:spPr>
          <a:xfrm>
            <a:off x="7269480" y="4983480"/>
            <a:ext cx="822960" cy="822960"/>
          </a:xfrm>
          <a:prstGeom prst="ellipse">
            <a:avLst/>
          </a:prstGeom>
          <a:solidFill>
            <a:srgbClr val="2D6E50"/>
          </a:solidFill>
          <a:ln w="12700">
            <a:solidFill>
              <a:srgbClr val="2D6E50"/>
            </a:solidFill>
            <a:prstDash val="solid"/>
          </a:ln>
        </p:spPr>
      </p:sp>
      <p:sp>
        <p:nvSpPr>
          <p:cNvPr id="16" name="Text 14"/>
          <p:cNvSpPr txBox="1"/>
          <p:nvPr/>
        </p:nvSpPr>
        <p:spPr>
          <a:xfrm>
            <a:off x="7269480" y="49834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R</a:t>
            </a:r>
            <a:endParaRPr lang="en-US" sz="2800" dirty="0"/>
          </a:p>
        </p:txBody>
      </p:sp>
      <p:sp>
        <p:nvSpPr>
          <p:cNvPr id="17" name="Text 15"/>
          <p:cNvSpPr txBox="1"/>
          <p:nvPr/>
        </p:nvSpPr>
        <p:spPr>
          <a:xfrm>
            <a:off x="8183880" y="5212080"/>
            <a:ext cx="128016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reviewer</a:t>
            </a:r>
            <a:endParaRPr lang="en-US" sz="1600" dirty="0"/>
          </a:p>
        </p:txBody>
      </p:sp>
      <p:sp>
        <p:nvSpPr>
          <p:cNvPr id="18" name="dot T"/>
          <p:cNvSpPr/>
          <p:nvPr/>
        </p:nvSpPr>
        <p:spPr>
          <a:xfrm>
            <a:off x="9509760" y="4983480"/>
            <a:ext cx="822960" cy="822960"/>
          </a:xfrm>
          <a:prstGeom prst="ellipse">
            <a:avLst/>
          </a:prstGeom>
          <a:solidFill>
            <a:srgbClr val="A8D5BF"/>
          </a:solidFill>
          <a:ln w="12700">
            <a:solidFill>
              <a:srgbClr val="A8D5BF"/>
            </a:solidFill>
            <a:prstDash val="solid"/>
          </a:ln>
        </p:spPr>
      </p:sp>
      <p:sp>
        <p:nvSpPr>
          <p:cNvPr id="19" name="Text 17"/>
          <p:cNvSpPr txBox="1"/>
          <p:nvPr/>
        </p:nvSpPr>
        <p:spPr>
          <a:xfrm>
            <a:off x="9509760" y="4983480"/>
            <a:ext cx="822960" cy="822960"/>
          </a:xfrm>
          <a:prstGeom prst="rect">
            <a:avLst/>
          </a:prstGeom>
          <a:noFill/>
          <a:ln/>
        </p:spPr>
        <p:txBody>
          <a:bodyPr wrap="square" lIns="0" tIns="0" rIns="0" bIns="0" rtlCol="0" anchor="ctr"/>
          <a:lstStyle/>
          <a:p>
            <a:pPr algn="ctr" indent="0" marL="0">
              <a:buNone/>
            </a:pPr>
            <a:r>
              <a:rPr lang="en-US" sz="2800" b="1" dirty="0">
                <a:solidFill>
                  <a:srgbClr val="1B4332"/>
                </a:solidFill>
                <a:latin typeface="Calibri" pitchFamily="34" charset="0"/>
                <a:ea typeface="Calibri" pitchFamily="34" charset="-122"/>
                <a:cs typeface="Calibri" pitchFamily="34" charset="-120"/>
              </a:rPr>
              <a:t>T</a:t>
            </a:r>
            <a:endParaRPr lang="en-US" sz="2800" dirty="0"/>
          </a:p>
        </p:txBody>
      </p:sp>
      <p:sp>
        <p:nvSpPr>
          <p:cNvPr id="20" name="Text 18"/>
          <p:cNvSpPr txBox="1"/>
          <p:nvPr/>
        </p:nvSpPr>
        <p:spPr>
          <a:xfrm>
            <a:off x="10424160" y="5212080"/>
            <a:ext cx="128016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timekeeper</a:t>
            </a:r>
            <a:endParaRPr lang="en-US" sz="1600" dirty="0"/>
          </a:p>
        </p:txBody>
      </p:sp>
      <p:sp>
        <p:nvSpPr>
          <p:cNvPr id="22" name="Text 0"/>
          <p:cNvSpPr/>
          <p:nvPr>
            <p:ph idx="100" type="title" hasCustomPrompt="1"/>
          </p:nvPr>
        </p:nvSpPr>
        <p:spPr>
          <a:xfrm>
            <a:off x="548640" y="457200"/>
            <a:ext cx="11064240" cy="1097280"/>
          </a:xfrm>
          <a:prstGeom prst="rect">
            <a:avLst/>
          </a:prstGeom>
          <a:noFill/>
          <a:ln/>
        </p:spPr>
        <p:txBody>
          <a:bodyPr wrap="square" lIns="0" tIns="0" rIns="0" bIns="0" rtlCol="0" anchor="t"/>
          <a:lstStyle/>
          <a:p>
            <a:pPr algn="l" indent="0" marL="0">
              <a:buNone/>
            </a:pPr>
            <a:endParaRPr lang="en-US" sz="40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5BF"/>
                </a:solidFill>
                <a:latin typeface="Calibri"/>
                <a:ea typeface="Calibri"/>
                <a:cs typeface="Calibri"/>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rgbClr val="1B4332"/>
                </a:solidFill>
                <a:latin typeface="Cambria" pitchFamily="34" charset="0"/>
                <a:ea typeface="Cambria" pitchFamily="34" charset="-122"/>
                <a:cs typeface="Cambria" pitchFamily="34" charset="-120"/>
              </a:rPr>
              <a:t>One dispatch, four stages, no steering</a:t>
            </a:r>
            <a:endParaRPr lang="en-US" sz="3200" dirty="0"/>
          </a:p>
        </p:txBody>
      </p:sp>
      <p:sp>
        <p:nvSpPr>
          <p:cNvPr id="3" name="stat 1"/>
          <p:cNvSpPr/>
          <p:nvPr/>
        </p:nvSpPr>
        <p:spPr>
          <a:xfrm>
            <a:off x="548640" y="1463040"/>
            <a:ext cx="3566160"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822960" y="1691640"/>
            <a:ext cx="3017520" cy="914400"/>
          </a:xfrm>
          <a:prstGeom prst="rect">
            <a:avLst/>
          </a:prstGeom>
          <a:noFill/>
          <a:ln/>
        </p:spPr>
        <p:txBody>
          <a:bodyPr wrap="square" lIns="0" tIns="0" rIns="0" bIns="0" rtlCol="0" anchor="t"/>
          <a:lstStyle/>
          <a:p>
            <a:pPr indent="0" marL="0">
              <a:buNone/>
            </a:pPr>
            <a:r>
              <a:rPr lang="en-US" sz="5400" b="1" dirty="0">
                <a:solidFill>
                  <a:srgbClr val="2D6E50"/>
                </a:solidFill>
                <a:latin typeface="Cambria" pitchFamily="34" charset="0"/>
                <a:ea typeface="Cambria" pitchFamily="34" charset="-122"/>
                <a:cs typeface="Cambria" pitchFamily="34" charset="-120"/>
              </a:rPr>
              <a:t>4</a:t>
            </a:r>
            <a:endParaRPr lang="en-US" sz="5400" dirty="0"/>
          </a:p>
        </p:txBody>
      </p:sp>
      <p:sp>
        <p:nvSpPr>
          <p:cNvPr id="5" name="Text 3"/>
          <p:cNvSpPr txBox="1"/>
          <p:nvPr/>
        </p:nvSpPr>
        <p:spPr>
          <a:xfrm>
            <a:off x="822960" y="2651760"/>
            <a:ext cx="3017520" cy="731520"/>
          </a:xfrm>
          <a:prstGeom prst="rect">
            <a:avLst/>
          </a:prstGeom>
          <a:noFill/>
          <a:ln/>
        </p:spPr>
        <p:txBody>
          <a:bodyPr wrap="square" lIns="0" tIns="0" rIns="0" bIns="0" rtlCol="0" anchor="t"/>
          <a:lstStyle/>
          <a:p>
            <a:pPr indent="0" marL="0">
              <a:buNone/>
            </a:pPr>
            <a:r>
              <a:rPr lang="en-US" sz="1600" dirty="0">
                <a:solidFill>
                  <a:srgbClr val="1F2A24"/>
                </a:solidFill>
                <a:latin typeface="Calibri" pitchFamily="34" charset="0"/>
                <a:ea typeface="Calibri" pitchFamily="34" charset="-122"/>
                <a:cs typeface="Calibri" pitchFamily="34" charset="-120"/>
              </a:rPr>
              <a:t>stages built and verified</a:t>
            </a:r>
            <a:endParaRPr lang="en-US" sz="1600" dirty="0"/>
          </a:p>
        </p:txBody>
      </p:sp>
      <p:sp>
        <p:nvSpPr>
          <p:cNvPr id="6" name="stat 2"/>
          <p:cNvSpPr/>
          <p:nvPr/>
        </p:nvSpPr>
        <p:spPr>
          <a:xfrm>
            <a:off x="4297680" y="1463040"/>
            <a:ext cx="3566160"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4572000" y="1691640"/>
            <a:ext cx="3017520" cy="914400"/>
          </a:xfrm>
          <a:prstGeom prst="rect">
            <a:avLst/>
          </a:prstGeom>
          <a:noFill/>
          <a:ln/>
        </p:spPr>
        <p:txBody>
          <a:bodyPr wrap="square" lIns="0" tIns="0" rIns="0" bIns="0" rtlCol="0" anchor="t"/>
          <a:lstStyle/>
          <a:p>
            <a:pPr indent="0" marL="0">
              <a:buNone/>
            </a:pPr>
            <a:r>
              <a:rPr lang="en-US" sz="5400" b="1" dirty="0">
                <a:solidFill>
                  <a:srgbClr val="2D6E50"/>
                </a:solidFill>
                <a:latin typeface="Cambria" pitchFamily="34" charset="0"/>
                <a:ea typeface="Cambria" pitchFamily="34" charset="-122"/>
                <a:cs typeface="Cambria" pitchFamily="34" charset="-120"/>
              </a:rPr>
              <a:t>5</a:t>
            </a:r>
            <a:endParaRPr lang="en-US" sz="5400" dirty="0"/>
          </a:p>
        </p:txBody>
      </p:sp>
      <p:sp>
        <p:nvSpPr>
          <p:cNvPr id="8" name="Text 6"/>
          <p:cNvSpPr txBox="1"/>
          <p:nvPr/>
        </p:nvSpPr>
        <p:spPr>
          <a:xfrm>
            <a:off x="4572000" y="2651760"/>
            <a:ext cx="3017520" cy="731520"/>
          </a:xfrm>
          <a:prstGeom prst="rect">
            <a:avLst/>
          </a:prstGeom>
          <a:noFill/>
          <a:ln/>
        </p:spPr>
        <p:txBody>
          <a:bodyPr wrap="square" lIns="0" tIns="0" rIns="0" bIns="0" rtlCol="0" anchor="t"/>
          <a:lstStyle/>
          <a:p>
            <a:pPr indent="0" marL="0">
              <a:buNone/>
            </a:pPr>
            <a:r>
              <a:rPr lang="en-US" sz="1600" dirty="0">
                <a:solidFill>
                  <a:srgbClr val="1F2A24"/>
                </a:solidFill>
                <a:latin typeface="Calibri" pitchFamily="34" charset="0"/>
                <a:ea typeface="Calibri" pitchFamily="34" charset="-122"/>
                <a:cs typeface="Calibri" pitchFamily="34" charset="-120"/>
              </a:rPr>
              <a:t>seats: 4 models + 1 clock</a:t>
            </a:r>
            <a:endParaRPr lang="en-US" sz="1600" dirty="0"/>
          </a:p>
        </p:txBody>
      </p:sp>
      <p:sp>
        <p:nvSpPr>
          <p:cNvPr id="9" name="stat 3"/>
          <p:cNvSpPr/>
          <p:nvPr/>
        </p:nvSpPr>
        <p:spPr>
          <a:xfrm>
            <a:off x="8046720" y="1463040"/>
            <a:ext cx="3566160"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8321040" y="1691640"/>
            <a:ext cx="3017520" cy="914400"/>
          </a:xfrm>
          <a:prstGeom prst="rect">
            <a:avLst/>
          </a:prstGeom>
          <a:noFill/>
          <a:ln/>
        </p:spPr>
        <p:txBody>
          <a:bodyPr wrap="square" lIns="0" tIns="0" rIns="0" bIns="0" rtlCol="0" anchor="t"/>
          <a:lstStyle/>
          <a:p>
            <a:pPr indent="0" marL="0">
              <a:buNone/>
            </a:pPr>
            <a:r>
              <a:rPr lang="en-US" sz="5400" b="1" dirty="0">
                <a:solidFill>
                  <a:srgbClr val="6B4FA0"/>
                </a:solidFill>
                <a:latin typeface="Cambria" pitchFamily="34" charset="0"/>
                <a:ea typeface="Cambria" pitchFamily="34" charset="-122"/>
                <a:cs typeface="Cambria" pitchFamily="34" charset="-120"/>
              </a:rPr>
              <a:t>0</a:t>
            </a:r>
            <a:endParaRPr lang="en-US" sz="5400" dirty="0"/>
          </a:p>
        </p:txBody>
      </p:sp>
      <p:sp>
        <p:nvSpPr>
          <p:cNvPr id="11" name="Text 9"/>
          <p:cNvSpPr txBox="1"/>
          <p:nvPr/>
        </p:nvSpPr>
        <p:spPr>
          <a:xfrm>
            <a:off x="8321040" y="2651760"/>
            <a:ext cx="3017520" cy="731520"/>
          </a:xfrm>
          <a:prstGeom prst="rect">
            <a:avLst/>
          </a:prstGeom>
          <a:noFill/>
          <a:ln/>
        </p:spPr>
        <p:txBody>
          <a:bodyPr wrap="square" lIns="0" tIns="0" rIns="0" bIns="0" rtlCol="0" anchor="t"/>
          <a:lstStyle/>
          <a:p>
            <a:pPr indent="0" marL="0">
              <a:buNone/>
            </a:pPr>
            <a:r>
              <a:rPr lang="en-US" sz="1600" dirty="0">
                <a:solidFill>
                  <a:srgbClr val="1F2A24"/>
                </a:solidFill>
                <a:latin typeface="Calibri" pitchFamily="34" charset="0"/>
                <a:ea typeface="Calibri" pitchFamily="34" charset="-122"/>
                <a:cs typeface="Calibri" pitchFamily="34" charset="-120"/>
              </a:rPr>
              <a:t>human messages after the dispatch (run 1: 5)</a:t>
            </a:r>
            <a:endParaRPr lang="en-US" sz="1600" dirty="0"/>
          </a:p>
        </p:txBody>
      </p:sp>
      <p:sp>
        <p:nvSpPr>
          <p:cNvPr id="12" name="stat 4"/>
          <p:cNvSpPr/>
          <p:nvPr/>
        </p:nvSpPr>
        <p:spPr>
          <a:xfrm>
            <a:off x="548640" y="3703320"/>
            <a:ext cx="3566160"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822960" y="3931920"/>
            <a:ext cx="3017520" cy="914400"/>
          </a:xfrm>
          <a:prstGeom prst="rect">
            <a:avLst/>
          </a:prstGeom>
          <a:noFill/>
          <a:ln/>
        </p:spPr>
        <p:txBody>
          <a:bodyPr wrap="square" lIns="0" tIns="0" rIns="0" bIns="0" rtlCol="0" anchor="t"/>
          <a:lstStyle/>
          <a:p>
            <a:pPr indent="0" marL="0">
              <a:buNone/>
            </a:pPr>
            <a:r>
              <a:rPr lang="en-US" sz="5400" b="1" dirty="0">
                <a:solidFill>
                  <a:srgbClr val="2D6E50"/>
                </a:solidFill>
                <a:latin typeface="Cambria" pitchFamily="34" charset="0"/>
                <a:ea typeface="Cambria" pitchFamily="34" charset="-122"/>
                <a:cs typeface="Cambria" pitchFamily="34" charset="-120"/>
              </a:rPr>
              <a:t>160</a:t>
            </a:r>
            <a:endParaRPr lang="en-US" sz="5400" dirty="0"/>
          </a:p>
        </p:txBody>
      </p:sp>
      <p:sp>
        <p:nvSpPr>
          <p:cNvPr id="14" name="Text 12"/>
          <p:cNvSpPr txBox="1"/>
          <p:nvPr/>
        </p:nvSpPr>
        <p:spPr>
          <a:xfrm>
            <a:off x="822960" y="4892040"/>
            <a:ext cx="3017520" cy="731520"/>
          </a:xfrm>
          <a:prstGeom prst="rect">
            <a:avLst/>
          </a:prstGeom>
          <a:noFill/>
          <a:ln/>
        </p:spPr>
        <p:txBody>
          <a:bodyPr wrap="square" lIns="0" tIns="0" rIns="0" bIns="0" rtlCol="0" anchor="t"/>
          <a:lstStyle/>
          <a:p>
            <a:pPr indent="0" marL="0">
              <a:buNone/>
            </a:pPr>
            <a:r>
              <a:rPr lang="en-US" sz="1600" dirty="0">
                <a:solidFill>
                  <a:srgbClr val="1F2A24"/>
                </a:solidFill>
                <a:latin typeface="Calibri" pitchFamily="34" charset="0"/>
                <a:ea typeface="Calibri" pitchFamily="34" charset="-122"/>
                <a:cs typeface="Calibri" pitchFamily="34" charset="-120"/>
              </a:rPr>
              <a:t>commits, every one by a seat</a:t>
            </a:r>
            <a:endParaRPr lang="en-US" sz="1600" dirty="0"/>
          </a:p>
        </p:txBody>
      </p:sp>
      <p:sp>
        <p:nvSpPr>
          <p:cNvPr id="15" name="stat 5"/>
          <p:cNvSpPr/>
          <p:nvPr/>
        </p:nvSpPr>
        <p:spPr>
          <a:xfrm>
            <a:off x="4297680" y="3703320"/>
            <a:ext cx="3566160"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4572000" y="3931920"/>
            <a:ext cx="3017520" cy="914400"/>
          </a:xfrm>
          <a:prstGeom prst="rect">
            <a:avLst/>
          </a:prstGeom>
          <a:noFill/>
          <a:ln/>
        </p:spPr>
        <p:txBody>
          <a:bodyPr wrap="square" lIns="0" tIns="0" rIns="0" bIns="0" rtlCol="0" anchor="t"/>
          <a:lstStyle/>
          <a:p>
            <a:pPr indent="0" marL="0">
              <a:buNone/>
            </a:pPr>
            <a:r>
              <a:rPr lang="en-US" sz="5400" b="1" dirty="0">
                <a:solidFill>
                  <a:srgbClr val="C98A1B"/>
                </a:solidFill>
                <a:latin typeface="Cambria" pitchFamily="34" charset="0"/>
                <a:ea typeface="Cambria" pitchFamily="34" charset="-122"/>
                <a:cs typeface="Cambria" pitchFamily="34" charset="-120"/>
              </a:rPr>
              <a:t>29.8 h</a:t>
            </a:r>
            <a:endParaRPr lang="en-US" sz="5400" dirty="0"/>
          </a:p>
        </p:txBody>
      </p:sp>
      <p:sp>
        <p:nvSpPr>
          <p:cNvPr id="17" name="Text 15"/>
          <p:cNvSpPr txBox="1"/>
          <p:nvPr/>
        </p:nvSpPr>
        <p:spPr>
          <a:xfrm>
            <a:off x="4572000" y="4892040"/>
            <a:ext cx="3017520" cy="731520"/>
          </a:xfrm>
          <a:prstGeom prst="rect">
            <a:avLst/>
          </a:prstGeom>
          <a:noFill/>
          <a:ln/>
        </p:spPr>
        <p:txBody>
          <a:bodyPr wrap="square" lIns="0" tIns="0" rIns="0" bIns="0" rtlCol="0" anchor="t"/>
          <a:lstStyle/>
          <a:p>
            <a:pPr indent="0" marL="0">
              <a:buNone/>
            </a:pPr>
            <a:r>
              <a:rPr lang="en-US" sz="1600" dirty="0">
                <a:solidFill>
                  <a:srgbClr val="1F2A24"/>
                </a:solidFill>
                <a:latin typeface="Calibri" pitchFamily="34" charset="0"/>
                <a:ea typeface="Calibri" pitchFamily="34" charset="-122"/>
                <a:cs typeface="Calibri" pitchFamily="34" charset="-120"/>
              </a:rPr>
              <a:t>wall-clock, about 9 h of it waiting on session limits</a:t>
            </a:r>
            <a:endParaRPr lang="en-US" sz="1600" dirty="0"/>
          </a:p>
        </p:txBody>
      </p:sp>
      <p:sp>
        <p:nvSpPr>
          <p:cNvPr id="18" name="stat 6"/>
          <p:cNvSpPr/>
          <p:nvPr/>
        </p:nvSpPr>
        <p:spPr>
          <a:xfrm>
            <a:off x="8046720" y="3703320"/>
            <a:ext cx="3566160"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9" name="Text 17"/>
          <p:cNvSpPr txBox="1"/>
          <p:nvPr/>
        </p:nvSpPr>
        <p:spPr>
          <a:xfrm>
            <a:off x="8321040" y="3931920"/>
            <a:ext cx="3017520" cy="914400"/>
          </a:xfrm>
          <a:prstGeom prst="rect">
            <a:avLst/>
          </a:prstGeom>
          <a:noFill/>
          <a:ln/>
        </p:spPr>
        <p:txBody>
          <a:bodyPr wrap="square" lIns="0" tIns="0" rIns="0" bIns="0" rtlCol="0" anchor="t"/>
          <a:lstStyle/>
          <a:p>
            <a:pPr indent="0" marL="0">
              <a:buNone/>
            </a:pPr>
            <a:r>
              <a:rPr lang="en-US" sz="5400" b="1" dirty="0">
                <a:solidFill>
                  <a:srgbClr val="C98A1B"/>
                </a:solidFill>
                <a:latin typeface="Cambria" pitchFamily="34" charset="0"/>
                <a:ea typeface="Cambria" pitchFamily="34" charset="-122"/>
                <a:cs typeface="Cambria" pitchFamily="34" charset="-120"/>
              </a:rPr>
              <a:t>~$25</a:t>
            </a:r>
            <a:endParaRPr lang="en-US" sz="5400" dirty="0"/>
          </a:p>
        </p:txBody>
      </p:sp>
      <p:sp>
        <p:nvSpPr>
          <p:cNvPr id="20" name="Text 18"/>
          <p:cNvSpPr txBox="1"/>
          <p:nvPr/>
        </p:nvSpPr>
        <p:spPr>
          <a:xfrm>
            <a:off x="8321040" y="4892040"/>
            <a:ext cx="3017520" cy="731520"/>
          </a:xfrm>
          <a:prstGeom prst="rect">
            <a:avLst/>
          </a:prstGeom>
          <a:noFill/>
          <a:ln/>
        </p:spPr>
        <p:txBody>
          <a:bodyPr wrap="square" lIns="0" tIns="0" rIns="0" bIns="0" rtlCol="0" anchor="t"/>
          <a:lstStyle/>
          <a:p>
            <a:pPr indent="0" marL="0">
              <a:buNone/>
            </a:pPr>
            <a:r>
              <a:rPr lang="en-US" sz="1600" dirty="0">
                <a:solidFill>
                  <a:srgbClr val="1F2A24"/>
                </a:solidFill>
                <a:latin typeface="Calibri" pitchFamily="34" charset="0"/>
                <a:ea typeface="Calibri" pitchFamily="34" charset="-122"/>
                <a:cs typeface="Calibri" pitchFamily="34" charset="-120"/>
              </a:rPr>
              <a:t>Featherless spend; Claude seats on a subscription</a:t>
            </a:r>
            <a:endParaRPr lang="en-US" sz="1600" dirty="0"/>
          </a:p>
        </p:txBody>
      </p:sp>
      <p:sp>
        <p:nvSpPr>
          <p:cNvPr id="21" name="Text 19"/>
          <p:cNvSpPr txBox="1"/>
          <p:nvPr/>
        </p:nvSpPr>
        <p:spPr>
          <a:xfrm>
            <a:off x="548640" y="6035040"/>
            <a:ext cx="10058400" cy="365760"/>
          </a:xfrm>
          <a:prstGeom prst="rect">
            <a:avLst/>
          </a:prstGeom>
          <a:noFill/>
          <a:ln/>
        </p:spPr>
        <p:txBody>
          <a:bodyPr wrap="square" lIns="0" tIns="0" rIns="0" bIns="0" rtlCol="0" anchor="t"/>
          <a:lstStyle/>
          <a:p>
            <a:pPr indent="0" marL="0">
              <a:buNone/>
            </a:pPr>
            <a:r>
              <a:rPr lang="en-US" sz="1400" dirty="0">
                <a:solidFill>
                  <a:srgbClr val="5A645E"/>
                </a:solidFill>
                <a:latin typeface="Calibri" pitchFamily="34" charset="0"/>
                <a:ea typeface="Calibri" pitchFamily="34" charset="-122"/>
                <a:cs typeface="Calibri" pitchFamily="34" charset="-120"/>
              </a:rPr>
              <a:t>Run 2 of the same four-stage build. Run 1 is the comparison on the next slides, including what did not improve.</a:t>
            </a:r>
            <a:endParaRPr lang="en-US" sz="1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8E"/>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rgbClr val="1B4332"/>
                </a:solidFill>
                <a:latin typeface="Cambria" pitchFamily="34" charset="0"/>
                <a:ea typeface="Cambria" pitchFamily="34" charset="-122"/>
                <a:cs typeface="Cambria" pitchFamily="34" charset="-120"/>
              </a:rPr>
              <a:t>Five seats, one job each</a:t>
            </a:r>
            <a:endParaRPr lang="en-US" sz="3200" dirty="0"/>
          </a:p>
        </p:txBody>
      </p:sp>
      <p:sp>
        <p:nvSpPr>
          <p:cNvPr id="3" name="seat coordinator"/>
          <p:cNvSpPr/>
          <p:nvPr/>
        </p:nvSpPr>
        <p:spPr>
          <a:xfrm>
            <a:off x="548640" y="1417320"/>
            <a:ext cx="2057400" cy="3246120"/>
          </a:xfrm>
          <a:prstGeom prst="roundRect">
            <a:avLst>
              <a:gd name="adj" fmla="val 533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4" name="dot C"/>
          <p:cNvSpPr/>
          <p:nvPr/>
        </p:nvSpPr>
        <p:spPr>
          <a:xfrm>
            <a:off x="731520" y="1600200"/>
            <a:ext cx="685800" cy="685800"/>
          </a:xfrm>
          <a:prstGeom prst="ellipse">
            <a:avLst/>
          </a:prstGeom>
          <a:solidFill>
            <a:srgbClr val="2D6E50"/>
          </a:solidFill>
          <a:ln w="12700">
            <a:solidFill>
              <a:srgbClr val="2D6E50"/>
            </a:solidFill>
            <a:prstDash val="solid"/>
          </a:ln>
        </p:spPr>
      </p:sp>
      <p:sp>
        <p:nvSpPr>
          <p:cNvPr id="5" name="Text 3"/>
          <p:cNvSpPr txBox="1"/>
          <p:nvPr/>
        </p:nvSpPr>
        <p:spPr>
          <a:xfrm>
            <a:off x="731520" y="160020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t>
            </a:r>
            <a:endParaRPr lang="en-US" sz="2400" dirty="0"/>
          </a:p>
        </p:txBody>
      </p:sp>
      <p:sp>
        <p:nvSpPr>
          <p:cNvPr id="6" name="Text 4"/>
          <p:cNvSpPr txBox="1"/>
          <p:nvPr/>
        </p:nvSpPr>
        <p:spPr>
          <a:xfrm>
            <a:off x="731520" y="2423160"/>
            <a:ext cx="1737360" cy="365760"/>
          </a:xfrm>
          <a:prstGeom prst="rect">
            <a:avLst/>
          </a:prstGeom>
          <a:noFill/>
          <a:ln/>
        </p:spPr>
        <p:txBody>
          <a:bodyPr wrap="square" lIns="0" tIns="0" rIns="0" bIns="0" rtlCol="0" anchor="t"/>
          <a:lstStyle/>
          <a:p>
            <a:pPr indent="0" marL="0">
              <a:buNone/>
            </a:pPr>
            <a:r>
              <a:rPr lang="en-US" sz="2000" b="1" dirty="0">
                <a:solidFill>
                  <a:srgbClr val="1B4332"/>
                </a:solidFill>
                <a:latin typeface="Cambria" pitchFamily="34" charset="0"/>
                <a:ea typeface="Cambria" pitchFamily="34" charset="-122"/>
                <a:cs typeface="Cambria" pitchFamily="34" charset="-120"/>
              </a:rPr>
              <a:t>coordinator</a:t>
            </a:r>
            <a:endParaRPr lang="en-US" sz="2000" dirty="0"/>
          </a:p>
        </p:txBody>
      </p:sp>
      <p:sp>
        <p:nvSpPr>
          <p:cNvPr id="7" name="Text 5"/>
          <p:cNvSpPr txBox="1"/>
          <p:nvPr/>
        </p:nvSpPr>
        <p:spPr>
          <a:xfrm>
            <a:off x="731520" y="2788920"/>
            <a:ext cx="1737360" cy="320040"/>
          </a:xfrm>
          <a:prstGeom prst="rect">
            <a:avLst/>
          </a:prstGeom>
          <a:noFill/>
          <a:ln/>
        </p:spPr>
        <p:txBody>
          <a:bodyPr wrap="square" lIns="0" tIns="0" rIns="0" bIns="0" rtlCol="0" anchor="t"/>
          <a:lstStyle/>
          <a:p>
            <a:pPr indent="0" marL="0">
              <a:buNone/>
            </a:pPr>
            <a:r>
              <a:rPr lang="en-US" sz="1400" b="1" dirty="0">
                <a:solidFill>
                  <a:srgbClr val="2D6E50"/>
                </a:solidFill>
                <a:latin typeface="Calibri" pitchFamily="34" charset="0"/>
                <a:ea typeface="Calibri" pitchFamily="34" charset="-122"/>
                <a:cs typeface="Calibri" pitchFamily="34" charset="-120"/>
              </a:rPr>
              <a:t>Claude Sonnet</a:t>
            </a:r>
            <a:endParaRPr lang="en-US" sz="1400" dirty="0"/>
          </a:p>
        </p:txBody>
      </p:sp>
      <p:sp>
        <p:nvSpPr>
          <p:cNvPr id="8" name="Text 6"/>
          <p:cNvSpPr txBox="1"/>
          <p:nvPr/>
        </p:nvSpPr>
        <p:spPr>
          <a:xfrm>
            <a:off x="731520" y="3200400"/>
            <a:ext cx="1737360" cy="1371600"/>
          </a:xfrm>
          <a:prstGeom prst="rect">
            <a:avLst/>
          </a:prstGeom>
          <a:noFill/>
          <a:ln/>
        </p:spPr>
        <p:txBody>
          <a:bodyPr wrap="square" lIns="0" tIns="0" rIns="0" bIns="0" rtlCol="0" anchor="t"/>
          <a:lstStyle/>
          <a:p>
            <a:pPr indent="0" marL="0">
              <a:buNone/>
            </a:pPr>
            <a:r>
              <a:rPr lang="en-US" sz="1400" dirty="0">
                <a:solidFill>
                  <a:srgbClr val="1F2A24"/>
                </a:solidFill>
                <a:latin typeface="Calibri" pitchFamily="34" charset="0"/>
                <a:ea typeface="Calibri" pitchFamily="34" charset="-122"/>
                <a:cs typeface="Calibri" pitchFamily="34" charset="-120"/>
              </a:rPr>
              <a:t>Requirements, design, the dependency graph, routing, close-out</a:t>
            </a:r>
            <a:endParaRPr lang="en-US" sz="1400" dirty="0"/>
          </a:p>
        </p:txBody>
      </p:sp>
      <p:sp>
        <p:nvSpPr>
          <p:cNvPr id="9" name="seat developer"/>
          <p:cNvSpPr/>
          <p:nvPr/>
        </p:nvSpPr>
        <p:spPr>
          <a:xfrm>
            <a:off x="2807208" y="1417320"/>
            <a:ext cx="2057400" cy="3246120"/>
          </a:xfrm>
          <a:prstGeom prst="roundRect">
            <a:avLst>
              <a:gd name="adj" fmla="val 533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0" name="dot D"/>
          <p:cNvSpPr/>
          <p:nvPr/>
        </p:nvSpPr>
        <p:spPr>
          <a:xfrm>
            <a:off x="2990088" y="1600200"/>
            <a:ext cx="685800" cy="685800"/>
          </a:xfrm>
          <a:prstGeom prst="ellipse">
            <a:avLst/>
          </a:prstGeom>
          <a:solidFill>
            <a:srgbClr val="8A948E"/>
          </a:solidFill>
          <a:ln w="12700">
            <a:solidFill>
              <a:srgbClr val="8A948E"/>
            </a:solidFill>
            <a:prstDash val="solid"/>
          </a:ln>
        </p:spPr>
      </p:sp>
      <p:sp>
        <p:nvSpPr>
          <p:cNvPr id="11" name="Text 9"/>
          <p:cNvSpPr txBox="1"/>
          <p:nvPr/>
        </p:nvSpPr>
        <p:spPr>
          <a:xfrm>
            <a:off x="2990088" y="160020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D</a:t>
            </a:r>
            <a:endParaRPr lang="en-US" sz="2400" dirty="0"/>
          </a:p>
        </p:txBody>
      </p:sp>
      <p:sp>
        <p:nvSpPr>
          <p:cNvPr id="12" name="Text 10"/>
          <p:cNvSpPr txBox="1"/>
          <p:nvPr/>
        </p:nvSpPr>
        <p:spPr>
          <a:xfrm>
            <a:off x="2990088" y="2423160"/>
            <a:ext cx="1737360" cy="365760"/>
          </a:xfrm>
          <a:prstGeom prst="rect">
            <a:avLst/>
          </a:prstGeom>
          <a:noFill/>
          <a:ln/>
        </p:spPr>
        <p:txBody>
          <a:bodyPr wrap="square" lIns="0" tIns="0" rIns="0" bIns="0" rtlCol="0" anchor="t"/>
          <a:lstStyle/>
          <a:p>
            <a:pPr indent="0" marL="0">
              <a:buNone/>
            </a:pPr>
            <a:r>
              <a:rPr lang="en-US" sz="2000" b="1" dirty="0">
                <a:solidFill>
                  <a:srgbClr val="1B4332"/>
                </a:solidFill>
                <a:latin typeface="Cambria" pitchFamily="34" charset="0"/>
                <a:ea typeface="Cambria" pitchFamily="34" charset="-122"/>
                <a:cs typeface="Cambria" pitchFamily="34" charset="-120"/>
              </a:rPr>
              <a:t>developer</a:t>
            </a:r>
            <a:endParaRPr lang="en-US" sz="2000" dirty="0"/>
          </a:p>
        </p:txBody>
      </p:sp>
      <p:sp>
        <p:nvSpPr>
          <p:cNvPr id="13" name="Text 11"/>
          <p:cNvSpPr txBox="1"/>
          <p:nvPr/>
        </p:nvSpPr>
        <p:spPr>
          <a:xfrm>
            <a:off x="2990088" y="2788920"/>
            <a:ext cx="1737360" cy="320040"/>
          </a:xfrm>
          <a:prstGeom prst="rect">
            <a:avLst/>
          </a:prstGeom>
          <a:noFill/>
          <a:ln/>
        </p:spPr>
        <p:txBody>
          <a:bodyPr wrap="square" lIns="0" tIns="0" rIns="0" bIns="0" rtlCol="0" anchor="t"/>
          <a:lstStyle/>
          <a:p>
            <a:pPr indent="0" marL="0">
              <a:buNone/>
            </a:pPr>
            <a:r>
              <a:rPr lang="en-US" sz="1400" b="1" dirty="0">
                <a:solidFill>
                  <a:srgbClr val="8A948E"/>
                </a:solidFill>
                <a:latin typeface="Calibri" pitchFamily="34" charset="0"/>
                <a:ea typeface="Calibri" pitchFamily="34" charset="-122"/>
                <a:cs typeface="Calibri" pitchFamily="34" charset="-120"/>
              </a:rPr>
              <a:t>GLM-5.3-Flash</a:t>
            </a:r>
            <a:endParaRPr lang="en-US" sz="1400" dirty="0"/>
          </a:p>
        </p:txBody>
      </p:sp>
      <p:sp>
        <p:nvSpPr>
          <p:cNvPr id="14" name="Text 12"/>
          <p:cNvSpPr txBox="1"/>
          <p:nvPr/>
        </p:nvSpPr>
        <p:spPr>
          <a:xfrm>
            <a:off x="2990088" y="3200400"/>
            <a:ext cx="1737360" cy="1371600"/>
          </a:xfrm>
          <a:prstGeom prst="rect">
            <a:avLst/>
          </a:prstGeom>
          <a:noFill/>
          <a:ln/>
        </p:spPr>
        <p:txBody>
          <a:bodyPr wrap="square" lIns="0" tIns="0" rIns="0" bIns="0" rtlCol="0" anchor="t"/>
          <a:lstStyle/>
          <a:p>
            <a:pPr indent="0" marL="0">
              <a:buNone/>
            </a:pPr>
            <a:r>
              <a:rPr lang="en-US" sz="1400" dirty="0">
                <a:solidFill>
                  <a:srgbClr val="1F2A24"/>
                </a:solidFill>
                <a:latin typeface="Calibri" pitchFamily="34" charset="0"/>
                <a:ea typeface="Calibri" pitchFamily="34" charset="-122"/>
                <a:cs typeface="Calibri" pitchFamily="34" charset="-120"/>
              </a:rPr>
              <a:t>Code and unit tests, one branch per review batch</a:t>
            </a:r>
            <a:endParaRPr lang="en-US" sz="1400" dirty="0"/>
          </a:p>
        </p:txBody>
      </p:sp>
      <p:sp>
        <p:nvSpPr>
          <p:cNvPr id="15" name="seat tester"/>
          <p:cNvSpPr/>
          <p:nvPr/>
        </p:nvSpPr>
        <p:spPr>
          <a:xfrm>
            <a:off x="5065776" y="1417320"/>
            <a:ext cx="2057400" cy="3246120"/>
          </a:xfrm>
          <a:prstGeom prst="roundRect">
            <a:avLst>
              <a:gd name="adj" fmla="val 533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6" name="dot T"/>
          <p:cNvSpPr/>
          <p:nvPr/>
        </p:nvSpPr>
        <p:spPr>
          <a:xfrm>
            <a:off x="5248656" y="1600200"/>
            <a:ext cx="685800" cy="685800"/>
          </a:xfrm>
          <a:prstGeom prst="ellipse">
            <a:avLst/>
          </a:prstGeom>
          <a:solidFill>
            <a:srgbClr val="8A948E"/>
          </a:solidFill>
          <a:ln w="12700">
            <a:solidFill>
              <a:srgbClr val="8A948E"/>
            </a:solidFill>
            <a:prstDash val="solid"/>
          </a:ln>
        </p:spPr>
      </p:sp>
      <p:sp>
        <p:nvSpPr>
          <p:cNvPr id="17" name="Text 15"/>
          <p:cNvSpPr txBox="1"/>
          <p:nvPr/>
        </p:nvSpPr>
        <p:spPr>
          <a:xfrm>
            <a:off x="5248656" y="160020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T</a:t>
            </a:r>
            <a:endParaRPr lang="en-US" sz="2400" dirty="0"/>
          </a:p>
        </p:txBody>
      </p:sp>
      <p:sp>
        <p:nvSpPr>
          <p:cNvPr id="18" name="Text 16"/>
          <p:cNvSpPr txBox="1"/>
          <p:nvPr/>
        </p:nvSpPr>
        <p:spPr>
          <a:xfrm>
            <a:off x="5248656" y="2423160"/>
            <a:ext cx="1737360" cy="365760"/>
          </a:xfrm>
          <a:prstGeom prst="rect">
            <a:avLst/>
          </a:prstGeom>
          <a:noFill/>
          <a:ln/>
        </p:spPr>
        <p:txBody>
          <a:bodyPr wrap="square" lIns="0" tIns="0" rIns="0" bIns="0" rtlCol="0" anchor="t"/>
          <a:lstStyle/>
          <a:p>
            <a:pPr indent="0" marL="0">
              <a:buNone/>
            </a:pPr>
            <a:r>
              <a:rPr lang="en-US" sz="2000" b="1" dirty="0">
                <a:solidFill>
                  <a:srgbClr val="1B4332"/>
                </a:solidFill>
                <a:latin typeface="Cambria" pitchFamily="34" charset="0"/>
                <a:ea typeface="Cambria" pitchFamily="34" charset="-122"/>
                <a:cs typeface="Cambria" pitchFamily="34" charset="-120"/>
              </a:rPr>
              <a:t>tester</a:t>
            </a:r>
            <a:endParaRPr lang="en-US" sz="2000" dirty="0"/>
          </a:p>
        </p:txBody>
      </p:sp>
      <p:sp>
        <p:nvSpPr>
          <p:cNvPr id="19" name="Text 17"/>
          <p:cNvSpPr txBox="1"/>
          <p:nvPr/>
        </p:nvSpPr>
        <p:spPr>
          <a:xfrm>
            <a:off x="5248656" y="2788920"/>
            <a:ext cx="1737360" cy="320040"/>
          </a:xfrm>
          <a:prstGeom prst="rect">
            <a:avLst/>
          </a:prstGeom>
          <a:noFill/>
          <a:ln/>
        </p:spPr>
        <p:txBody>
          <a:bodyPr wrap="square" lIns="0" tIns="0" rIns="0" bIns="0" rtlCol="0" anchor="t"/>
          <a:lstStyle/>
          <a:p>
            <a:pPr indent="0" marL="0">
              <a:buNone/>
            </a:pPr>
            <a:r>
              <a:rPr lang="en-US" sz="1400" b="1" dirty="0">
                <a:solidFill>
                  <a:srgbClr val="8A948E"/>
                </a:solidFill>
                <a:latin typeface="Calibri" pitchFamily="34" charset="0"/>
                <a:ea typeface="Calibri" pitchFamily="34" charset="-122"/>
                <a:cs typeface="Calibri" pitchFamily="34" charset="-120"/>
              </a:rPr>
              <a:t>GLM-5.3-Flash</a:t>
            </a:r>
            <a:endParaRPr lang="en-US" sz="1400" dirty="0"/>
          </a:p>
        </p:txBody>
      </p:sp>
      <p:sp>
        <p:nvSpPr>
          <p:cNvPr id="20" name="Text 18"/>
          <p:cNvSpPr txBox="1"/>
          <p:nvPr/>
        </p:nvSpPr>
        <p:spPr>
          <a:xfrm>
            <a:off x="5248656" y="3200400"/>
            <a:ext cx="1737360" cy="1371600"/>
          </a:xfrm>
          <a:prstGeom prst="rect">
            <a:avLst/>
          </a:prstGeom>
          <a:noFill/>
          <a:ln/>
        </p:spPr>
        <p:txBody>
          <a:bodyPr wrap="square" lIns="0" tIns="0" rIns="0" bIns="0" rtlCol="0" anchor="t"/>
          <a:lstStyle/>
          <a:p>
            <a:pPr indent="0" marL="0">
              <a:buNone/>
            </a:pPr>
            <a:r>
              <a:rPr lang="en-US" sz="1400" dirty="0">
                <a:solidFill>
                  <a:srgbClr val="1F2A24"/>
                </a:solidFill>
                <a:latin typeface="Calibri" pitchFamily="34" charset="0"/>
                <a:ea typeface="Calibri" pitchFamily="34" charset="-122"/>
                <a:cs typeface="Calibri" pitchFamily="34" charset="-120"/>
              </a:rPr>
              <a:t>Completeness review, black-box acceptance suite, UI checks</a:t>
            </a:r>
            <a:endParaRPr lang="en-US" sz="1400" dirty="0"/>
          </a:p>
        </p:txBody>
      </p:sp>
      <p:sp>
        <p:nvSpPr>
          <p:cNvPr id="21" name="seat reviewer"/>
          <p:cNvSpPr/>
          <p:nvPr/>
        </p:nvSpPr>
        <p:spPr>
          <a:xfrm>
            <a:off x="7324344" y="1417320"/>
            <a:ext cx="2057400" cy="3246120"/>
          </a:xfrm>
          <a:prstGeom prst="roundRect">
            <a:avLst>
              <a:gd name="adj" fmla="val 533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2" name="dot R"/>
          <p:cNvSpPr/>
          <p:nvPr/>
        </p:nvSpPr>
        <p:spPr>
          <a:xfrm>
            <a:off x="7507224" y="1600200"/>
            <a:ext cx="685800" cy="685800"/>
          </a:xfrm>
          <a:prstGeom prst="ellipse">
            <a:avLst/>
          </a:prstGeom>
          <a:solidFill>
            <a:srgbClr val="2D6E50"/>
          </a:solidFill>
          <a:ln w="12700">
            <a:solidFill>
              <a:srgbClr val="2D6E50"/>
            </a:solidFill>
            <a:prstDash val="solid"/>
          </a:ln>
        </p:spPr>
      </p:sp>
      <p:sp>
        <p:nvSpPr>
          <p:cNvPr id="23" name="Text 21"/>
          <p:cNvSpPr txBox="1"/>
          <p:nvPr/>
        </p:nvSpPr>
        <p:spPr>
          <a:xfrm>
            <a:off x="7507224" y="160020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R</a:t>
            </a:r>
            <a:endParaRPr lang="en-US" sz="2400" dirty="0"/>
          </a:p>
        </p:txBody>
      </p:sp>
      <p:sp>
        <p:nvSpPr>
          <p:cNvPr id="24" name="Text 22"/>
          <p:cNvSpPr txBox="1"/>
          <p:nvPr/>
        </p:nvSpPr>
        <p:spPr>
          <a:xfrm>
            <a:off x="7507224" y="2423160"/>
            <a:ext cx="1737360" cy="365760"/>
          </a:xfrm>
          <a:prstGeom prst="rect">
            <a:avLst/>
          </a:prstGeom>
          <a:noFill/>
          <a:ln/>
        </p:spPr>
        <p:txBody>
          <a:bodyPr wrap="square" lIns="0" tIns="0" rIns="0" bIns="0" rtlCol="0" anchor="t"/>
          <a:lstStyle/>
          <a:p>
            <a:pPr indent="0" marL="0">
              <a:buNone/>
            </a:pPr>
            <a:r>
              <a:rPr lang="en-US" sz="2000" b="1" dirty="0">
                <a:solidFill>
                  <a:srgbClr val="1B4332"/>
                </a:solidFill>
                <a:latin typeface="Cambria" pitchFamily="34" charset="0"/>
                <a:ea typeface="Cambria" pitchFamily="34" charset="-122"/>
                <a:cs typeface="Cambria" pitchFamily="34" charset="-120"/>
              </a:rPr>
              <a:t>reviewer</a:t>
            </a:r>
            <a:endParaRPr lang="en-US" sz="2000" dirty="0"/>
          </a:p>
        </p:txBody>
      </p:sp>
      <p:sp>
        <p:nvSpPr>
          <p:cNvPr id="25" name="Text 23"/>
          <p:cNvSpPr txBox="1"/>
          <p:nvPr/>
        </p:nvSpPr>
        <p:spPr>
          <a:xfrm>
            <a:off x="7507224" y="2788920"/>
            <a:ext cx="1737360" cy="320040"/>
          </a:xfrm>
          <a:prstGeom prst="rect">
            <a:avLst/>
          </a:prstGeom>
          <a:noFill/>
          <a:ln/>
        </p:spPr>
        <p:txBody>
          <a:bodyPr wrap="square" lIns="0" tIns="0" rIns="0" bIns="0" rtlCol="0" anchor="t"/>
          <a:lstStyle/>
          <a:p>
            <a:pPr indent="0" marL="0">
              <a:buNone/>
            </a:pPr>
            <a:r>
              <a:rPr lang="en-US" sz="1400" b="1" dirty="0">
                <a:solidFill>
                  <a:srgbClr val="2D6E50"/>
                </a:solidFill>
                <a:latin typeface="Calibri" pitchFamily="34" charset="0"/>
                <a:ea typeface="Calibri" pitchFamily="34" charset="-122"/>
                <a:cs typeface="Calibri" pitchFamily="34" charset="-120"/>
              </a:rPr>
              <a:t>Claude Sonnet</a:t>
            </a:r>
            <a:endParaRPr lang="en-US" sz="1400" dirty="0"/>
          </a:p>
        </p:txBody>
      </p:sp>
      <p:sp>
        <p:nvSpPr>
          <p:cNvPr id="26" name="Text 24"/>
          <p:cNvSpPr txBox="1"/>
          <p:nvPr/>
        </p:nvSpPr>
        <p:spPr>
          <a:xfrm>
            <a:off x="7507224" y="3200400"/>
            <a:ext cx="1737360" cy="1371600"/>
          </a:xfrm>
          <a:prstGeom prst="rect">
            <a:avLst/>
          </a:prstGeom>
          <a:noFill/>
          <a:ln/>
        </p:spPr>
        <p:txBody>
          <a:bodyPr wrap="square" lIns="0" tIns="0" rIns="0" bIns="0" rtlCol="0" anchor="t"/>
          <a:lstStyle/>
          <a:p>
            <a:pPr indent="0" marL="0">
              <a:buNone/>
            </a:pPr>
            <a:r>
              <a:rPr lang="en-US" sz="1400" dirty="0">
                <a:solidFill>
                  <a:srgbClr val="1F2A24"/>
                </a:solidFill>
                <a:latin typeface="Calibri" pitchFamily="34" charset="0"/>
                <a:ea typeface="Calibri" pitchFamily="34" charset="-122"/>
                <a:cs typeface="Calibri" pitchFamily="34" charset="-120"/>
              </a:rPr>
              <a:t>Clean-copy review, screenshots, the only merger</a:t>
            </a:r>
            <a:endParaRPr lang="en-US" sz="1400" dirty="0"/>
          </a:p>
        </p:txBody>
      </p:sp>
      <p:sp>
        <p:nvSpPr>
          <p:cNvPr id="27" name="seat timekeeper"/>
          <p:cNvSpPr/>
          <p:nvPr/>
        </p:nvSpPr>
        <p:spPr>
          <a:xfrm>
            <a:off x="9582912" y="1417320"/>
            <a:ext cx="2057400" cy="3246120"/>
          </a:xfrm>
          <a:prstGeom prst="roundRect">
            <a:avLst>
              <a:gd name="adj" fmla="val 533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8" name="dot K"/>
          <p:cNvSpPr/>
          <p:nvPr/>
        </p:nvSpPr>
        <p:spPr>
          <a:xfrm>
            <a:off x="9765792" y="1600200"/>
            <a:ext cx="685800" cy="685800"/>
          </a:xfrm>
          <a:prstGeom prst="ellipse">
            <a:avLst/>
          </a:prstGeom>
          <a:solidFill>
            <a:srgbClr val="6B4FA0"/>
          </a:solidFill>
          <a:ln w="12700">
            <a:solidFill>
              <a:srgbClr val="6B4FA0"/>
            </a:solidFill>
            <a:prstDash val="solid"/>
          </a:ln>
        </p:spPr>
      </p:sp>
      <p:sp>
        <p:nvSpPr>
          <p:cNvPr id="29" name="Text 27"/>
          <p:cNvSpPr txBox="1"/>
          <p:nvPr/>
        </p:nvSpPr>
        <p:spPr>
          <a:xfrm>
            <a:off x="9765792" y="160020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K</a:t>
            </a:r>
            <a:endParaRPr lang="en-US" sz="2400" dirty="0"/>
          </a:p>
        </p:txBody>
      </p:sp>
      <p:sp>
        <p:nvSpPr>
          <p:cNvPr id="30" name="Text 28"/>
          <p:cNvSpPr txBox="1"/>
          <p:nvPr/>
        </p:nvSpPr>
        <p:spPr>
          <a:xfrm>
            <a:off x="9765792" y="2423160"/>
            <a:ext cx="1737360" cy="365760"/>
          </a:xfrm>
          <a:prstGeom prst="rect">
            <a:avLst/>
          </a:prstGeom>
          <a:noFill/>
          <a:ln/>
        </p:spPr>
        <p:txBody>
          <a:bodyPr wrap="square" lIns="0" tIns="0" rIns="0" bIns="0" rtlCol="0" anchor="t"/>
          <a:lstStyle/>
          <a:p>
            <a:pPr indent="0" marL="0">
              <a:buNone/>
            </a:pPr>
            <a:r>
              <a:rPr lang="en-US" sz="2000" b="1" dirty="0">
                <a:solidFill>
                  <a:srgbClr val="1B4332"/>
                </a:solidFill>
                <a:latin typeface="Cambria" pitchFamily="34" charset="0"/>
                <a:ea typeface="Cambria" pitchFamily="34" charset="-122"/>
                <a:cs typeface="Cambria" pitchFamily="34" charset="-120"/>
              </a:rPr>
              <a:t>timekeeper</a:t>
            </a:r>
            <a:endParaRPr lang="en-US" sz="2000" dirty="0"/>
          </a:p>
        </p:txBody>
      </p:sp>
      <p:sp>
        <p:nvSpPr>
          <p:cNvPr id="31" name="Text 29"/>
          <p:cNvSpPr txBox="1"/>
          <p:nvPr/>
        </p:nvSpPr>
        <p:spPr>
          <a:xfrm>
            <a:off x="9765792" y="2788920"/>
            <a:ext cx="1737360" cy="320040"/>
          </a:xfrm>
          <a:prstGeom prst="rect">
            <a:avLst/>
          </a:prstGeom>
          <a:noFill/>
          <a:ln/>
        </p:spPr>
        <p:txBody>
          <a:bodyPr wrap="square" lIns="0" tIns="0" rIns="0" bIns="0" rtlCol="0" anchor="t"/>
          <a:lstStyle/>
          <a:p>
            <a:pPr indent="0" marL="0">
              <a:buNone/>
            </a:pPr>
            <a:r>
              <a:rPr lang="en-US" sz="1400" b="1" dirty="0">
                <a:solidFill>
                  <a:srgbClr val="6B4FA0"/>
                </a:solidFill>
                <a:latin typeface="Calibri" pitchFamily="34" charset="0"/>
                <a:ea typeface="Calibri" pitchFamily="34" charset="-122"/>
                <a:cs typeface="Calibri" pitchFamily="34" charset="-120"/>
              </a:rPr>
              <a:t>script, no model</a:t>
            </a:r>
            <a:endParaRPr lang="en-US" sz="1400" dirty="0"/>
          </a:p>
        </p:txBody>
      </p:sp>
      <p:sp>
        <p:nvSpPr>
          <p:cNvPr id="32" name="Text 30"/>
          <p:cNvSpPr txBox="1"/>
          <p:nvPr/>
        </p:nvSpPr>
        <p:spPr>
          <a:xfrm>
            <a:off x="9765792" y="3200400"/>
            <a:ext cx="1737360" cy="1371600"/>
          </a:xfrm>
          <a:prstGeom prst="rect">
            <a:avLst/>
          </a:prstGeom>
          <a:noFill/>
          <a:ln/>
        </p:spPr>
        <p:txBody>
          <a:bodyPr wrap="square" lIns="0" tIns="0" rIns="0" bIns="0" rtlCol="0" anchor="t"/>
          <a:lstStyle/>
          <a:p>
            <a:pPr indent="0" marL="0">
              <a:buNone/>
            </a:pPr>
            <a:r>
              <a:rPr lang="en-US" sz="1400" dirty="0">
                <a:solidFill>
                  <a:srgbClr val="1F2A24"/>
                </a:solidFill>
                <a:latin typeface="Calibri" pitchFamily="34" charset="0"/>
                <a:ea typeface="Calibri" pitchFamily="34" charset="-122"/>
                <a:cs typeface="Calibri" pitchFamily="34" charset="-120"/>
              </a:rPr>
              <a:t>Wakes the coordinator when a stage goes quiet</a:t>
            </a:r>
            <a:endParaRPr lang="en-US" sz="1400" dirty="0"/>
          </a:p>
        </p:txBody>
      </p:sp>
      <p:sp>
        <p:nvSpPr>
          <p:cNvPr id="33" name="routing band"/>
          <p:cNvSpPr/>
          <p:nvPr/>
        </p:nvSpPr>
        <p:spPr>
          <a:xfrm>
            <a:off x="548640" y="4937760"/>
            <a:ext cx="11091672" cy="1097280"/>
          </a:xfrm>
          <a:prstGeom prst="roundRect">
            <a:avLst>
              <a:gd name="adj" fmla="val 10000"/>
            </a:avLst>
          </a:prstGeom>
          <a:solidFill>
            <a:srgbClr val="1B4332"/>
          </a:solidFill>
          <a:ln w="12700">
            <a:solidFill>
              <a:srgbClr val="1B4332"/>
            </a:solidFill>
            <a:prstDash val="solid"/>
          </a:ln>
          <a:effectLst>
            <a:outerShdw sx="100000" sy="100000" kx="0" ky="0" algn="bl" rotWithShape="0" blurRad="101600" dist="25400" dir="5400000">
              <a:srgbClr val="000000">
                <a:alpha val="12000"/>
              </a:srgbClr>
            </a:outerShdw>
          </a:effectLst>
        </p:spPr>
      </p:sp>
      <p:sp>
        <p:nvSpPr>
          <p:cNvPr id="34" name="Text 32"/>
          <p:cNvSpPr txBox="1"/>
          <p:nvPr/>
        </p:nvSpPr>
        <p:spPr>
          <a:xfrm>
            <a:off x="822960" y="5029200"/>
            <a:ext cx="10515600" cy="914400"/>
          </a:xfrm>
          <a:prstGeom prst="rect">
            <a:avLst/>
          </a:prstGeom>
          <a:noFill/>
          <a:ln/>
        </p:spPr>
        <p:txBody>
          <a:bodyPr wrap="square" lIns="0" tIns="0" rIns="0" bIns="0" rtlCol="0" anchor="ctr"/>
          <a:lstStyle/>
          <a:p>
            <a:pPr indent="0" marL="0">
              <a:spcAft>
                <a:spcPts val="400"/>
              </a:spcAft>
              <a:buNone/>
            </a:pPr>
            <a:r>
              <a:rPr lang="en-US" sz="1500" b="1" dirty="0">
                <a:solidFill>
                  <a:srgbClr val="FFFFFF"/>
                </a:solidFill>
                <a:latin typeface="Calibri" pitchFamily="34" charset="0"/>
                <a:ea typeface="Calibri" pitchFamily="34" charset="-122"/>
                <a:cs typeface="Calibri" pitchFamily="34" charset="-120"/>
              </a:rPr>
              <a:t>Today the routing is by reasoning load, fixed per seat. </a:t>
            </a:r>
            <a:endParaRPr lang="en-US" sz="1500" dirty="0"/>
          </a:p>
          <a:p>
            <a:pPr indent="0" marL="0">
              <a:spcAft>
                <a:spcPts val="400"/>
              </a:spcAft>
              <a:buNone/>
            </a:pPr>
            <a:r>
              <a:rPr lang="en-US" sz="1500" dirty="0">
                <a:solidFill>
                  <a:srgbClr val="A8D5BF"/>
                </a:solidFill>
                <a:latin typeface="Calibri" pitchFamily="34" charset="0"/>
                <a:ea typeface="Calibri" pitchFamily="34" charset="-122"/>
                <a:cs typeface="Calibri" pitchFamily="34" charset="-120"/>
              </a:rPr>
              <a:t>High reasoning (planning, corner cases, merge decisions): Claude Sonnet.</a:t>
            </a:r>
            <a:endParaRPr lang="en-US" sz="1500" dirty="0"/>
          </a:p>
          <a:p>
            <a:pPr indent="0" marL="0">
              <a:spcAft>
                <a:spcPts val="400"/>
              </a:spcAft>
              <a:buNone/>
            </a:pPr>
            <a:r>
              <a:rPr lang="en-US" sz="1500" dirty="0">
                <a:solidFill>
                  <a:srgbClr val="A8D5BF"/>
                </a:solidFill>
                <a:latin typeface="Calibri" pitchFamily="34" charset="0"/>
                <a:ea typeface="Calibri" pitchFamily="34" charset="-122"/>
                <a:cs typeface="Calibri" pitchFamily="34" charset="-120"/>
              </a:rPr>
              <a:t>Lower reasoning, high volume (code, tests): a cheaper model, about 9× cheaper than GLM-5.2.</a:t>
            </a:r>
            <a:endParaRPr lang="en-US" sz="15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8E"/>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rgbClr val="1B4332"/>
                </a:solidFill>
                <a:latin typeface="Cambria" pitchFamily="34" charset="0"/>
                <a:ea typeface="Cambria" pitchFamily="34" charset="-122"/>
                <a:cs typeface="Cambria" pitchFamily="34" charset="-120"/>
              </a:rPr>
              <a:t>Designed for agents, not for an org chart</a:t>
            </a:r>
            <a:endParaRPr lang="en-US" sz="3200" dirty="0"/>
          </a:p>
        </p:txBody>
      </p:sp>
      <p:sp>
        <p:nvSpPr>
          <p:cNvPr id="3" name="seats card"/>
          <p:cNvSpPr/>
          <p:nvPr/>
        </p:nvSpPr>
        <p:spPr>
          <a:xfrm>
            <a:off x="548640" y="1417320"/>
            <a:ext cx="539496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868680" y="1600200"/>
            <a:ext cx="4754880" cy="914400"/>
          </a:xfrm>
          <a:prstGeom prst="rect">
            <a:avLst/>
          </a:prstGeom>
          <a:noFill/>
          <a:ln/>
        </p:spPr>
        <p:txBody>
          <a:bodyPr wrap="square" lIns="0" tIns="0" rIns="0" bIns="0" rtlCol="0" anchor="t"/>
          <a:lstStyle/>
          <a:p>
            <a:pPr indent="0" marL="0">
              <a:buNone/>
            </a:pPr>
            <a:r>
              <a:rPr lang="en-US" sz="5400" b="1" dirty="0">
                <a:solidFill>
                  <a:srgbClr val="2D6E50"/>
                </a:solidFill>
                <a:latin typeface="Cambria" pitchFamily="34" charset="0"/>
                <a:ea typeface="Cambria" pitchFamily="34" charset="-122"/>
                <a:cs typeface="Cambria" pitchFamily="34" charset="-120"/>
              </a:rPr>
              <a:t>10 → 5</a:t>
            </a:r>
            <a:endParaRPr lang="en-US" sz="5400" dirty="0"/>
          </a:p>
        </p:txBody>
      </p:sp>
      <p:sp>
        <p:nvSpPr>
          <p:cNvPr id="5" name="Text 3"/>
          <p:cNvSpPr txBox="1"/>
          <p:nvPr/>
        </p:nvSpPr>
        <p:spPr>
          <a:xfrm>
            <a:off x="868680" y="2514600"/>
            <a:ext cx="4754880" cy="365760"/>
          </a:xfrm>
          <a:prstGeom prst="rect">
            <a:avLst/>
          </a:prstGeom>
          <a:noFill/>
          <a:ln/>
        </p:spPr>
        <p:txBody>
          <a:bodyPr wrap="square" lIns="0" tIns="0" rIns="0" bIns="0" rtlCol="0" anchor="t"/>
          <a:lstStyle/>
          <a:p>
            <a:pPr indent="0" marL="0">
              <a:buNone/>
            </a:pPr>
            <a:r>
              <a:rPr lang="en-US" sz="1600" b="1" dirty="0">
                <a:solidFill>
                  <a:srgbClr val="1F2A24"/>
                </a:solidFill>
                <a:latin typeface="Calibri" pitchFamily="34" charset="0"/>
                <a:ea typeface="Calibri" pitchFamily="34" charset="-122"/>
                <a:cs typeface="Calibri" pitchFamily="34" charset="-120"/>
              </a:rPr>
              <a:t>seats, after a toy rehearsal</a:t>
            </a:r>
            <a:endParaRPr lang="en-US" sz="1600" dirty="0"/>
          </a:p>
        </p:txBody>
      </p:sp>
      <p:sp>
        <p:nvSpPr>
          <p:cNvPr id="6" name="Text 4"/>
          <p:cNvSpPr txBox="1"/>
          <p:nvPr/>
        </p:nvSpPr>
        <p:spPr>
          <a:xfrm>
            <a:off x="868680" y="3017520"/>
            <a:ext cx="4754880" cy="28346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A24"/>
                </a:solidFill>
                <a:latin typeface="Calibri" pitchFamily="34" charset="0"/>
                <a:ea typeface="Calibri" pitchFamily="34" charset="-122"/>
                <a:cs typeface="Calibri" pitchFamily="34" charset="-120"/>
              </a:rPr>
              <a:t>3 seats cost $12.40 for about 1.5 stages: coordination, not capacity, was the bill</a:t>
            </a:r>
            <a:endParaRPr lang="en-US" sz="1500" dirty="0"/>
          </a:p>
          <a:p>
            <a:pPr marL="342900" indent="-342900">
              <a:spcAft>
                <a:spcPts val="800"/>
              </a:spcAft>
              <a:buSzPct val="100000"/>
              <a:buChar char="•"/>
            </a:pPr>
            <a:r>
              <a:rPr lang="en-US" sz="1500" dirty="0">
                <a:solidFill>
                  <a:srgbClr val="1F2A24"/>
                </a:solidFill>
                <a:latin typeface="Calibri" pitchFamily="34" charset="0"/>
                <a:ea typeface="Calibri" pitchFamily="34" charset="-122"/>
                <a:cs typeface="Calibri" pitchFamily="34" charset="-120"/>
              </a:rPr>
              <a:t>Architect is a responsibility of the coordinator, not a seat</a:t>
            </a:r>
            <a:endParaRPr lang="en-US" sz="1500" dirty="0"/>
          </a:p>
          <a:p>
            <a:pPr marL="342900" indent="-342900">
              <a:spcAft>
                <a:spcPts val="800"/>
              </a:spcAft>
              <a:buSzPct val="100000"/>
              <a:buChar char="•"/>
            </a:pPr>
            <a:r>
              <a:rPr lang="en-US" sz="1500" dirty="0">
                <a:solidFill>
                  <a:srgbClr val="1F2A24"/>
                </a:solidFill>
                <a:latin typeface="Calibri" pitchFamily="34" charset="0"/>
                <a:ea typeface="Calibri" pitchFamily="34" charset="-122"/>
                <a:cs typeface="Calibri" pitchFamily="34" charset="-120"/>
              </a:rPr>
              <a:t>One developer: a second doubles handoffs and merges</a:t>
            </a:r>
            <a:endParaRPr lang="en-US" sz="1500" dirty="0"/>
          </a:p>
          <a:p>
            <a:pPr marL="342900" indent="-342900">
              <a:spcAft>
                <a:spcPts val="800"/>
              </a:spcAft>
              <a:buSzPct val="100000"/>
              <a:buChar char="•"/>
            </a:pPr>
            <a:r>
              <a:rPr lang="en-US" sz="1500" dirty="0">
                <a:solidFill>
                  <a:srgbClr val="1F2A24"/>
                </a:solidFill>
                <a:latin typeface="Calibri" pitchFamily="34" charset="0"/>
                <a:ea typeface="Calibri" pitchFamily="34" charset="-122"/>
                <a:cs typeface="Calibri" pitchFamily="34" charset="-120"/>
              </a:rPr>
              <a:t>QA folds into the tester; the ship-and-watch loop was cut</a:t>
            </a:r>
            <a:endParaRPr lang="en-US" sz="1500" dirty="0"/>
          </a:p>
        </p:txBody>
      </p:sp>
      <p:sp>
        <p:nvSpPr>
          <p:cNvPr id="7" name="agentic card"/>
          <p:cNvSpPr/>
          <p:nvPr/>
        </p:nvSpPr>
        <p:spPr>
          <a:xfrm>
            <a:off x="6263640" y="1417320"/>
            <a:ext cx="5376672"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6583680" y="1600200"/>
            <a:ext cx="4754880" cy="822960"/>
          </a:xfrm>
          <a:prstGeom prst="rect">
            <a:avLst/>
          </a:prstGeom>
          <a:noFill/>
          <a:ln/>
        </p:spPr>
        <p:txBody>
          <a:bodyPr wrap="square" lIns="0" tIns="0" rIns="0" bIns="0" rtlCol="0" anchor="t"/>
          <a:lstStyle/>
          <a:p>
            <a:pPr indent="0" marL="0">
              <a:buNone/>
            </a:pPr>
            <a:r>
              <a:rPr lang="en-US" sz="2000" b="1" dirty="0">
                <a:solidFill>
                  <a:srgbClr val="1B4332"/>
                </a:solidFill>
                <a:latin typeface="Cambria" pitchFamily="34" charset="0"/>
                <a:ea typeface="Cambria" pitchFamily="34" charset="-122"/>
                <a:cs typeface="Cambria" pitchFamily="34" charset="-120"/>
              </a:rPr>
              <a:t>Humans sync often because they forget. Agents don't.</a:t>
            </a:r>
            <a:endParaRPr lang="en-US" sz="2000" dirty="0"/>
          </a:p>
        </p:txBody>
      </p:sp>
      <p:sp>
        <p:nvSpPr>
          <p:cNvPr id="9" name="dot 1"/>
          <p:cNvSpPr/>
          <p:nvPr/>
        </p:nvSpPr>
        <p:spPr>
          <a:xfrm>
            <a:off x="6583680" y="2560320"/>
            <a:ext cx="502920" cy="502920"/>
          </a:xfrm>
          <a:prstGeom prst="ellipse">
            <a:avLst/>
          </a:prstGeom>
          <a:solidFill>
            <a:srgbClr val="6B4FA0"/>
          </a:solidFill>
          <a:ln w="12700">
            <a:solidFill>
              <a:srgbClr val="6B4FA0"/>
            </a:solidFill>
            <a:prstDash val="solid"/>
          </a:ln>
        </p:spPr>
      </p:sp>
      <p:sp>
        <p:nvSpPr>
          <p:cNvPr id="10" name="Text 8"/>
          <p:cNvSpPr txBox="1"/>
          <p:nvPr/>
        </p:nvSpPr>
        <p:spPr>
          <a:xfrm>
            <a:off x="6583680" y="25603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1" name="Text 9"/>
          <p:cNvSpPr txBox="1"/>
          <p:nvPr/>
        </p:nvSpPr>
        <p:spPr>
          <a:xfrm>
            <a:off x="7269480" y="2542032"/>
            <a:ext cx="4114800" cy="274320"/>
          </a:xfrm>
          <a:prstGeom prst="rect">
            <a:avLst/>
          </a:prstGeom>
          <a:noFill/>
          <a:ln/>
        </p:spPr>
        <p:txBody>
          <a:bodyPr wrap="square" lIns="0" tIns="0" rIns="0" bIns="0" rtlCol="0" anchor="t"/>
          <a:lstStyle/>
          <a:p>
            <a:pPr indent="0" marL="0">
              <a:buNone/>
            </a:pPr>
            <a:r>
              <a:rPr lang="en-US" sz="1400" dirty="0">
                <a:solidFill>
                  <a:srgbClr val="5A645E"/>
                </a:solidFill>
                <a:latin typeface="Calibri" pitchFamily="34" charset="0"/>
                <a:ea typeface="Calibri" pitchFamily="34" charset="-122"/>
                <a:cs typeface="Calibri" pitchFamily="34" charset="-120"/>
              </a:rPr>
              <a:t>Many small pull requests</a:t>
            </a:r>
            <a:endParaRPr lang="en-US" sz="1400" dirty="0"/>
          </a:p>
        </p:txBody>
      </p:sp>
      <p:sp>
        <p:nvSpPr>
          <p:cNvPr id="12" name="Text 10"/>
          <p:cNvSpPr txBox="1"/>
          <p:nvPr/>
        </p:nvSpPr>
        <p:spPr>
          <a:xfrm>
            <a:off x="7269480" y="2834640"/>
            <a:ext cx="4114800" cy="731520"/>
          </a:xfrm>
          <a:prstGeom prst="rect">
            <a:avLst/>
          </a:prstGeom>
          <a:noFill/>
          <a:ln/>
        </p:spPr>
        <p:txBody>
          <a:bodyPr wrap="square" lIns="0" tIns="0" rIns="0" bIns="0" rtlCol="0" anchor="t"/>
          <a:lstStyle/>
          <a:p>
            <a:pPr indent="0" marL="0">
              <a:buNone/>
            </a:pPr>
            <a:r>
              <a:rPr lang="en-US" sz="1500" b="1" dirty="0">
                <a:solidFill>
                  <a:srgbClr val="1F2A24"/>
                </a:solidFill>
                <a:latin typeface="Calibri" pitchFamily="34" charset="0"/>
                <a:ea typeface="Calibri" pitchFamily="34" charset="-122"/>
                <a:cs typeface="Calibri" pitchFamily="34" charset="-120"/>
              </a:rPr>
              <a:t>One coherent batch per review, tested as a whole</a:t>
            </a:r>
            <a:endParaRPr lang="en-US" sz="1500" dirty="0"/>
          </a:p>
        </p:txBody>
      </p:sp>
      <p:sp>
        <p:nvSpPr>
          <p:cNvPr id="13" name="dot 2"/>
          <p:cNvSpPr/>
          <p:nvPr/>
        </p:nvSpPr>
        <p:spPr>
          <a:xfrm>
            <a:off x="6583680" y="3749040"/>
            <a:ext cx="502920" cy="502920"/>
          </a:xfrm>
          <a:prstGeom prst="ellipse">
            <a:avLst/>
          </a:prstGeom>
          <a:solidFill>
            <a:srgbClr val="6B4FA0"/>
          </a:solidFill>
          <a:ln w="12700">
            <a:solidFill>
              <a:srgbClr val="6B4FA0"/>
            </a:solidFill>
            <a:prstDash val="solid"/>
          </a:ln>
        </p:spPr>
      </p:sp>
      <p:sp>
        <p:nvSpPr>
          <p:cNvPr id="14" name="Text 12"/>
          <p:cNvSpPr txBox="1"/>
          <p:nvPr/>
        </p:nvSpPr>
        <p:spPr>
          <a:xfrm>
            <a:off x="6583680" y="37490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5" name="Text 13"/>
          <p:cNvSpPr txBox="1"/>
          <p:nvPr/>
        </p:nvSpPr>
        <p:spPr>
          <a:xfrm>
            <a:off x="7269480" y="3730752"/>
            <a:ext cx="4114800" cy="274320"/>
          </a:xfrm>
          <a:prstGeom prst="rect">
            <a:avLst/>
          </a:prstGeom>
          <a:noFill/>
          <a:ln/>
        </p:spPr>
        <p:txBody>
          <a:bodyPr wrap="square" lIns="0" tIns="0" rIns="0" bIns="0" rtlCol="0" anchor="t"/>
          <a:lstStyle/>
          <a:p>
            <a:pPr indent="0" marL="0">
              <a:buNone/>
            </a:pPr>
            <a:r>
              <a:rPr lang="en-US" sz="1400" dirty="0">
                <a:solidFill>
                  <a:srgbClr val="5A645E"/>
                </a:solidFill>
                <a:latin typeface="Calibri" pitchFamily="34" charset="0"/>
                <a:ea typeface="Calibri" pitchFamily="34" charset="-122"/>
                <a:cs typeface="Calibri" pitchFamily="34" charset="-120"/>
              </a:rPr>
              <a:t>“Please prioritise this”</a:t>
            </a:r>
            <a:endParaRPr lang="en-US" sz="1400" dirty="0"/>
          </a:p>
        </p:txBody>
      </p:sp>
      <p:sp>
        <p:nvSpPr>
          <p:cNvPr id="16" name="Text 14"/>
          <p:cNvSpPr txBox="1"/>
          <p:nvPr/>
        </p:nvSpPr>
        <p:spPr>
          <a:xfrm>
            <a:off x="7269480" y="4023360"/>
            <a:ext cx="4114800" cy="731520"/>
          </a:xfrm>
          <a:prstGeom prst="rect">
            <a:avLst/>
          </a:prstGeom>
          <a:noFill/>
          <a:ln/>
        </p:spPr>
        <p:txBody>
          <a:bodyPr wrap="square" lIns="0" tIns="0" rIns="0" bIns="0" rtlCol="0" anchor="t"/>
          <a:lstStyle/>
          <a:p>
            <a:pPr indent="0" marL="0">
              <a:buNone/>
            </a:pPr>
            <a:r>
              <a:rPr lang="en-US" sz="1500" b="1" dirty="0">
                <a:solidFill>
                  <a:srgbClr val="1F2A24"/>
                </a:solidFill>
                <a:latin typeface="Calibri" pitchFamily="34" charset="0"/>
                <a:ea typeface="Calibri" pitchFamily="34" charset="-122"/>
                <a:cs typeface="Calibri" pitchFamily="34" charset="-120"/>
              </a:rPr>
              <a:t>A precondition: dependent work doesn't start until its prerequisite is merged</a:t>
            </a:r>
            <a:endParaRPr lang="en-US" sz="1500" dirty="0"/>
          </a:p>
        </p:txBody>
      </p:sp>
      <p:sp>
        <p:nvSpPr>
          <p:cNvPr id="17" name="dot 3"/>
          <p:cNvSpPr/>
          <p:nvPr/>
        </p:nvSpPr>
        <p:spPr>
          <a:xfrm>
            <a:off x="6583680" y="4937760"/>
            <a:ext cx="502920" cy="502920"/>
          </a:xfrm>
          <a:prstGeom prst="ellipse">
            <a:avLst/>
          </a:prstGeom>
          <a:solidFill>
            <a:srgbClr val="6B4FA0"/>
          </a:solidFill>
          <a:ln w="12700">
            <a:solidFill>
              <a:srgbClr val="6B4FA0"/>
            </a:solidFill>
            <a:prstDash val="solid"/>
          </a:ln>
        </p:spPr>
      </p:sp>
      <p:sp>
        <p:nvSpPr>
          <p:cNvPr id="18" name="Text 16"/>
          <p:cNvSpPr txBox="1"/>
          <p:nvPr/>
        </p:nvSpPr>
        <p:spPr>
          <a:xfrm>
            <a:off x="6583680" y="49377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7269480" y="4919472"/>
            <a:ext cx="4114800" cy="274320"/>
          </a:xfrm>
          <a:prstGeom prst="rect">
            <a:avLst/>
          </a:prstGeom>
          <a:noFill/>
          <a:ln/>
        </p:spPr>
        <p:txBody>
          <a:bodyPr wrap="square" lIns="0" tIns="0" rIns="0" bIns="0" rtlCol="0" anchor="t"/>
          <a:lstStyle/>
          <a:p>
            <a:pPr indent="0" marL="0">
              <a:buNone/>
            </a:pPr>
            <a:r>
              <a:rPr lang="en-US" sz="1400" dirty="0">
                <a:solidFill>
                  <a:srgbClr val="5A645E"/>
                </a:solidFill>
                <a:latin typeface="Calibri" pitchFamily="34" charset="0"/>
                <a:ea typeface="Calibri" pitchFamily="34" charset="-122"/>
                <a:cs typeface="Calibri" pitchFamily="34" charset="-120"/>
              </a:rPr>
              <a:t>Daily standup</a:t>
            </a:r>
            <a:endParaRPr lang="en-US" sz="1400" dirty="0"/>
          </a:p>
        </p:txBody>
      </p:sp>
      <p:sp>
        <p:nvSpPr>
          <p:cNvPr id="20" name="Text 18"/>
          <p:cNvSpPr txBox="1"/>
          <p:nvPr/>
        </p:nvSpPr>
        <p:spPr>
          <a:xfrm>
            <a:off x="7269480" y="5212080"/>
            <a:ext cx="4114800" cy="731520"/>
          </a:xfrm>
          <a:prstGeom prst="rect">
            <a:avLst/>
          </a:prstGeom>
          <a:noFill/>
          <a:ln/>
        </p:spPr>
        <p:txBody>
          <a:bodyPr wrap="square" lIns="0" tIns="0" rIns="0" bIns="0" rtlCol="0" anchor="t"/>
          <a:lstStyle/>
          <a:p>
            <a:pPr indent="0" marL="0">
              <a:buNone/>
            </a:pPr>
            <a:r>
              <a:rPr lang="en-US" sz="1500" b="1" dirty="0">
                <a:solidFill>
                  <a:srgbClr val="1F2A24"/>
                </a:solidFill>
                <a:latin typeface="Calibri" pitchFamily="34" charset="0"/>
                <a:ea typeface="Calibri" pitchFamily="34" charset="-122"/>
                <a:cs typeface="Calibri" pitchFamily="34" charset="-120"/>
              </a:rPr>
              <a:t>A timekeeper that speaks only when the room is quiet</a:t>
            </a:r>
            <a:endParaRPr lang="en-US" sz="15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8E"/>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rgbClr val="1B4332"/>
                </a:solidFill>
                <a:latin typeface="Cambria" pitchFamily="34" charset="0"/>
                <a:ea typeface="Cambria" pitchFamily="34" charset="-122"/>
                <a:cs typeface="Cambria" pitchFamily="34" charset="-120"/>
              </a:rPr>
              <a:t>Run 1: a rejection that did not stop the line</a:t>
            </a:r>
            <a:endParaRPr lang="en-US" sz="3200" dirty="0"/>
          </a:p>
        </p:txBody>
      </p:sp>
      <p:sp>
        <p:nvSpPr>
          <p:cNvPr id="3" name="run1 event 1"/>
          <p:cNvSpPr/>
          <p:nvPr/>
        </p:nvSpPr>
        <p:spPr>
          <a:xfrm>
            <a:off x="548640" y="1417320"/>
            <a:ext cx="2606040" cy="3017520"/>
          </a:xfrm>
          <a:prstGeom prst="roundRect">
            <a:avLst>
              <a:gd name="adj" fmla="val 4211"/>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777240" y="1600200"/>
            <a:ext cx="2194560" cy="411480"/>
          </a:xfrm>
          <a:prstGeom prst="rect">
            <a:avLst/>
          </a:prstGeom>
          <a:noFill/>
          <a:ln/>
        </p:spPr>
        <p:txBody>
          <a:bodyPr wrap="square" lIns="0" tIns="0" rIns="0" bIns="0" rtlCol="0" anchor="t"/>
          <a:lstStyle/>
          <a:p>
            <a:pPr indent="0" marL="0">
              <a:buNone/>
            </a:pPr>
            <a:r>
              <a:rPr lang="en-US" sz="2600" b="1" dirty="0">
                <a:solidFill>
                  <a:srgbClr val="B4442F"/>
                </a:solidFill>
                <a:latin typeface="Cambria" pitchFamily="34" charset="0"/>
                <a:ea typeface="Cambria" pitchFamily="34" charset="-122"/>
                <a:cs typeface="Cambria" pitchFamily="34" charset="-120"/>
              </a:rPr>
              <a:t>19:50</a:t>
            </a:r>
            <a:endParaRPr lang="en-US" sz="2600" dirty="0"/>
          </a:p>
        </p:txBody>
      </p:sp>
      <p:sp>
        <p:nvSpPr>
          <p:cNvPr id="5" name="Text 3"/>
          <p:cNvSpPr txBox="1"/>
          <p:nvPr/>
        </p:nvSpPr>
        <p:spPr>
          <a:xfrm>
            <a:off x="777240" y="2103120"/>
            <a:ext cx="2194560" cy="548640"/>
          </a:xfrm>
          <a:prstGeom prst="rect">
            <a:avLst/>
          </a:prstGeom>
          <a:noFill/>
          <a:ln/>
        </p:spPr>
        <p:txBody>
          <a:bodyPr wrap="square" lIns="0" tIns="0" rIns="0" bIns="0" rtlCol="0" anchor="t"/>
          <a:lstStyle/>
          <a:p>
            <a:pPr indent="0" marL="0">
              <a:buNone/>
            </a:pPr>
            <a:r>
              <a:rPr lang="en-US" sz="1600" b="1" dirty="0">
                <a:solidFill>
                  <a:srgbClr val="1F2A24"/>
                </a:solidFill>
                <a:latin typeface="Calibri" pitchFamily="34" charset="0"/>
                <a:ea typeface="Calibri" pitchFamily="34" charset="-122"/>
                <a:cs typeface="Calibri" pitchFamily="34" charset="-120"/>
              </a:rPr>
              <a:t>Batch 2 rejected</a:t>
            </a:r>
            <a:endParaRPr lang="en-US" sz="1600" dirty="0"/>
          </a:p>
        </p:txBody>
      </p:sp>
      <p:sp>
        <p:nvSpPr>
          <p:cNvPr id="6" name="Text 4"/>
          <p:cNvSpPr txBox="1"/>
          <p:nvPr/>
        </p:nvSpPr>
        <p:spPr>
          <a:xfrm>
            <a:off x="777240" y="2743200"/>
            <a:ext cx="2194560" cy="1645920"/>
          </a:xfrm>
          <a:prstGeom prst="rect">
            <a:avLst/>
          </a:prstGeom>
          <a:noFill/>
          <a:ln/>
        </p:spPr>
        <p:txBody>
          <a:bodyPr wrap="square" lIns="0" tIns="0" rIns="0" bIns="0" rtlCol="0" anchor="t"/>
          <a:lstStyle/>
          <a:p>
            <a:pPr indent="0" marL="0">
              <a:buNone/>
            </a:pPr>
            <a:r>
              <a:rPr lang="en-US" sz="1400" dirty="0">
                <a:solidFill>
                  <a:srgbClr val="3A4640"/>
                </a:solidFill>
                <a:latin typeface="Calibri" pitchFamily="34" charset="0"/>
                <a:ea typeface="Calibri" pitchFamily="34" charset="-122"/>
                <a:cs typeface="Calibri" pitchFamily="34" charset="-120"/>
              </a:rPr>
              <a:t>Two defects, reproduced with an independent probe.</a:t>
            </a:r>
            <a:endParaRPr lang="en-US" sz="1400" dirty="0"/>
          </a:p>
        </p:txBody>
      </p:sp>
      <p:sp>
        <p:nvSpPr>
          <p:cNvPr id="7" name="run1 event 2"/>
          <p:cNvSpPr/>
          <p:nvPr/>
        </p:nvSpPr>
        <p:spPr>
          <a:xfrm>
            <a:off x="3337560" y="1417320"/>
            <a:ext cx="2606040" cy="3017520"/>
          </a:xfrm>
          <a:prstGeom prst="roundRect">
            <a:avLst>
              <a:gd name="adj" fmla="val 4211"/>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3566160" y="1600200"/>
            <a:ext cx="2194560" cy="411480"/>
          </a:xfrm>
          <a:prstGeom prst="rect">
            <a:avLst/>
          </a:prstGeom>
          <a:noFill/>
          <a:ln/>
        </p:spPr>
        <p:txBody>
          <a:bodyPr wrap="square" lIns="0" tIns="0" rIns="0" bIns="0" rtlCol="0" anchor="t"/>
          <a:lstStyle/>
          <a:p>
            <a:pPr indent="0" marL="0">
              <a:buNone/>
            </a:pPr>
            <a:r>
              <a:rPr lang="en-US" sz="2600" b="1" dirty="0">
                <a:solidFill>
                  <a:srgbClr val="C98A1B"/>
                </a:solidFill>
                <a:latin typeface="Cambria" pitchFamily="34" charset="0"/>
                <a:ea typeface="Cambria" pitchFamily="34" charset="-122"/>
                <a:cs typeface="Cambria" pitchFamily="34" charset="-120"/>
              </a:rPr>
              <a:t>20:04</a:t>
            </a:r>
            <a:endParaRPr lang="en-US" sz="2600" dirty="0"/>
          </a:p>
        </p:txBody>
      </p:sp>
      <p:sp>
        <p:nvSpPr>
          <p:cNvPr id="9" name="Text 7"/>
          <p:cNvSpPr txBox="1"/>
          <p:nvPr/>
        </p:nvSpPr>
        <p:spPr>
          <a:xfrm>
            <a:off x="3566160" y="2103120"/>
            <a:ext cx="2194560" cy="548640"/>
          </a:xfrm>
          <a:prstGeom prst="rect">
            <a:avLst/>
          </a:prstGeom>
          <a:noFill/>
          <a:ln/>
        </p:spPr>
        <p:txBody>
          <a:bodyPr wrap="square" lIns="0" tIns="0" rIns="0" bIns="0" rtlCol="0" anchor="t"/>
          <a:lstStyle/>
          <a:p>
            <a:pPr indent="0" marL="0">
              <a:buNone/>
            </a:pPr>
            <a:r>
              <a:rPr lang="en-US" sz="1600" b="1" dirty="0">
                <a:solidFill>
                  <a:srgbClr val="1F2A24"/>
                </a:solidFill>
                <a:latin typeface="Calibri" pitchFamily="34" charset="0"/>
                <a:ea typeface="Calibri" pitchFamily="34" charset="-122"/>
                <a:cs typeface="Calibri" pitchFamily="34" charset="-120"/>
              </a:rPr>
              <a:t>Batch 3: blocked</a:t>
            </a:r>
            <a:endParaRPr lang="en-US" sz="1600" dirty="0"/>
          </a:p>
        </p:txBody>
      </p:sp>
      <p:sp>
        <p:nvSpPr>
          <p:cNvPr id="10" name="Text 8"/>
          <p:cNvSpPr txBox="1"/>
          <p:nvPr/>
        </p:nvSpPr>
        <p:spPr>
          <a:xfrm>
            <a:off x="3566160" y="2743200"/>
            <a:ext cx="2194560" cy="1645920"/>
          </a:xfrm>
          <a:prstGeom prst="rect">
            <a:avLst/>
          </a:prstGeom>
          <a:noFill/>
          <a:ln/>
        </p:spPr>
        <p:txBody>
          <a:bodyPr wrap="square" lIns="0" tIns="0" rIns="0" bIns="0" rtlCol="0" anchor="t"/>
          <a:lstStyle/>
          <a:p>
            <a:pPr indent="0" marL="0">
              <a:buNone/>
            </a:pPr>
            <a:r>
              <a:rPr lang="en-US" sz="1400" dirty="0">
                <a:solidFill>
                  <a:srgbClr val="3A4640"/>
                </a:solidFill>
                <a:latin typeface="Calibri" pitchFamily="34" charset="0"/>
                <a:ea typeface="Calibri" pitchFamily="34" charset="-122"/>
                <a:cs typeface="Calibri" pitchFamily="34" charset="-120"/>
              </a:rPr>
              <a:t>“…stacked directly on batch 2's tip. I can't fast-forward without pulling in the unfixed defects.”</a:t>
            </a:r>
            <a:endParaRPr lang="en-US" sz="1400" dirty="0"/>
          </a:p>
        </p:txBody>
      </p:sp>
      <p:sp>
        <p:nvSpPr>
          <p:cNvPr id="11" name="run1 event 3"/>
          <p:cNvSpPr/>
          <p:nvPr/>
        </p:nvSpPr>
        <p:spPr>
          <a:xfrm>
            <a:off x="6126480" y="1417320"/>
            <a:ext cx="2606040" cy="3017520"/>
          </a:xfrm>
          <a:prstGeom prst="roundRect">
            <a:avLst>
              <a:gd name="adj" fmla="val 4211"/>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6355080" y="1600200"/>
            <a:ext cx="2194560" cy="411480"/>
          </a:xfrm>
          <a:prstGeom prst="rect">
            <a:avLst/>
          </a:prstGeom>
          <a:noFill/>
          <a:ln/>
        </p:spPr>
        <p:txBody>
          <a:bodyPr wrap="square" lIns="0" tIns="0" rIns="0" bIns="0" rtlCol="0" anchor="t"/>
          <a:lstStyle/>
          <a:p>
            <a:pPr indent="0" marL="0">
              <a:buNone/>
            </a:pPr>
            <a:r>
              <a:rPr lang="en-US" sz="2600" b="1" dirty="0">
                <a:solidFill>
                  <a:srgbClr val="C98A1B"/>
                </a:solidFill>
                <a:latin typeface="Cambria" pitchFamily="34" charset="0"/>
                <a:ea typeface="Cambria" pitchFamily="34" charset="-122"/>
                <a:cs typeface="Cambria" pitchFamily="34" charset="-120"/>
              </a:rPr>
              <a:t>22:32</a:t>
            </a:r>
            <a:endParaRPr lang="en-US" sz="2600" dirty="0"/>
          </a:p>
        </p:txBody>
      </p:sp>
      <p:sp>
        <p:nvSpPr>
          <p:cNvPr id="13" name="Text 11"/>
          <p:cNvSpPr txBox="1"/>
          <p:nvPr/>
        </p:nvSpPr>
        <p:spPr>
          <a:xfrm>
            <a:off x="6355080" y="2103120"/>
            <a:ext cx="2194560" cy="548640"/>
          </a:xfrm>
          <a:prstGeom prst="rect">
            <a:avLst/>
          </a:prstGeom>
          <a:noFill/>
          <a:ln/>
        </p:spPr>
        <p:txBody>
          <a:bodyPr wrap="square" lIns="0" tIns="0" rIns="0" bIns="0" rtlCol="0" anchor="t"/>
          <a:lstStyle/>
          <a:p>
            <a:pPr indent="0" marL="0">
              <a:buNone/>
            </a:pPr>
            <a:r>
              <a:rPr lang="en-US" sz="1600" b="1" dirty="0">
                <a:solidFill>
                  <a:srgbClr val="1F2A24"/>
                </a:solidFill>
                <a:latin typeface="Calibri" pitchFamily="34" charset="0"/>
                <a:ea typeface="Calibri" pitchFamily="34" charset="-122"/>
                <a:cs typeface="Calibri" pitchFamily="34" charset="-120"/>
              </a:rPr>
              <a:t>Batch 4: “still blocked”</a:t>
            </a:r>
            <a:endParaRPr lang="en-US" sz="1600" dirty="0"/>
          </a:p>
        </p:txBody>
      </p:sp>
      <p:sp>
        <p:nvSpPr>
          <p:cNvPr id="14" name="Text 12"/>
          <p:cNvSpPr txBox="1"/>
          <p:nvPr/>
        </p:nvSpPr>
        <p:spPr>
          <a:xfrm>
            <a:off x="6355080" y="2743200"/>
            <a:ext cx="2194560" cy="1645920"/>
          </a:xfrm>
          <a:prstGeom prst="rect">
            <a:avLst/>
          </a:prstGeom>
          <a:noFill/>
          <a:ln/>
        </p:spPr>
        <p:txBody>
          <a:bodyPr wrap="square" lIns="0" tIns="0" rIns="0" bIns="0" rtlCol="0" anchor="t"/>
          <a:lstStyle/>
          <a:p>
            <a:pPr indent="0" marL="0">
              <a:buNone/>
            </a:pPr>
            <a:r>
              <a:rPr lang="en-US" sz="1400" dirty="0">
                <a:solidFill>
                  <a:srgbClr val="3A4640"/>
                </a:solidFill>
                <a:latin typeface="Calibri" pitchFamily="34" charset="0"/>
                <a:ea typeface="Calibri" pitchFamily="34" charset="-122"/>
                <a:cs typeface="Calibri" pitchFamily="34" charset="-120"/>
              </a:rPr>
              <a:t>“I haven't seen a batch-2 fix land yet.”</a:t>
            </a:r>
            <a:endParaRPr lang="en-US" sz="1400" dirty="0"/>
          </a:p>
        </p:txBody>
      </p:sp>
      <p:sp>
        <p:nvSpPr>
          <p:cNvPr id="15" name="run1 event 4"/>
          <p:cNvSpPr/>
          <p:nvPr/>
        </p:nvSpPr>
        <p:spPr>
          <a:xfrm>
            <a:off x="8915400" y="1417320"/>
            <a:ext cx="2606040" cy="3017520"/>
          </a:xfrm>
          <a:prstGeom prst="roundRect">
            <a:avLst>
              <a:gd name="adj" fmla="val 4211"/>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9144000" y="1600200"/>
            <a:ext cx="2194560" cy="411480"/>
          </a:xfrm>
          <a:prstGeom prst="rect">
            <a:avLst/>
          </a:prstGeom>
          <a:noFill/>
          <a:ln/>
        </p:spPr>
        <p:txBody>
          <a:bodyPr wrap="square" lIns="0" tIns="0" rIns="0" bIns="0" rtlCol="0" anchor="t"/>
          <a:lstStyle/>
          <a:p>
            <a:pPr indent="0" marL="0">
              <a:buNone/>
            </a:pPr>
            <a:r>
              <a:rPr lang="en-US" sz="2600" b="1" dirty="0">
                <a:solidFill>
                  <a:srgbClr val="C98A1B"/>
                </a:solidFill>
                <a:latin typeface="Cambria" pitchFamily="34" charset="0"/>
                <a:ea typeface="Cambria" pitchFamily="34" charset="-122"/>
                <a:cs typeface="Cambria" pitchFamily="34" charset="-120"/>
              </a:rPr>
              <a:t>22:57</a:t>
            </a:r>
            <a:endParaRPr lang="en-US" sz="2600" dirty="0"/>
          </a:p>
        </p:txBody>
      </p:sp>
      <p:sp>
        <p:nvSpPr>
          <p:cNvPr id="17" name="Text 15"/>
          <p:cNvSpPr txBox="1"/>
          <p:nvPr/>
        </p:nvSpPr>
        <p:spPr>
          <a:xfrm>
            <a:off x="9144000" y="2103120"/>
            <a:ext cx="2194560" cy="548640"/>
          </a:xfrm>
          <a:prstGeom prst="rect">
            <a:avLst/>
          </a:prstGeom>
          <a:noFill/>
          <a:ln/>
        </p:spPr>
        <p:txBody>
          <a:bodyPr wrap="square" lIns="0" tIns="0" rIns="0" bIns="0" rtlCol="0" anchor="t"/>
          <a:lstStyle/>
          <a:p>
            <a:pPr indent="0" marL="0">
              <a:buNone/>
            </a:pPr>
            <a:r>
              <a:rPr lang="en-US" sz="1600" b="1" dirty="0">
                <a:solidFill>
                  <a:srgbClr val="1F2A24"/>
                </a:solidFill>
                <a:latin typeface="Calibri" pitchFamily="34" charset="0"/>
                <a:ea typeface="Calibri" pitchFamily="34" charset="-122"/>
                <a:cs typeface="Calibri" pitchFamily="34" charset="-120"/>
              </a:rPr>
              <a:t>Batch 5: “same blocker”</a:t>
            </a:r>
            <a:endParaRPr lang="en-US" sz="1600" dirty="0"/>
          </a:p>
        </p:txBody>
      </p:sp>
      <p:sp>
        <p:nvSpPr>
          <p:cNvPr id="18" name="Text 16"/>
          <p:cNvSpPr txBox="1"/>
          <p:nvPr/>
        </p:nvSpPr>
        <p:spPr>
          <a:xfrm>
            <a:off x="9144000" y="2743200"/>
            <a:ext cx="2194560" cy="1645920"/>
          </a:xfrm>
          <a:prstGeom prst="rect">
            <a:avLst/>
          </a:prstGeom>
          <a:noFill/>
          <a:ln/>
        </p:spPr>
        <p:txBody>
          <a:bodyPr wrap="square" lIns="0" tIns="0" rIns="0" bIns="0" rtlCol="0" anchor="t"/>
          <a:lstStyle/>
          <a:p>
            <a:pPr indent="0" marL="0">
              <a:buNone/>
            </a:pPr>
            <a:r>
              <a:rPr lang="en-US" sz="1400" dirty="0">
                <a:solidFill>
                  <a:srgbClr val="3A4640"/>
                </a:solidFill>
                <a:latin typeface="Calibri" pitchFamily="34" charset="0"/>
                <a:ea typeface="Calibri" pitchFamily="34" charset="-122"/>
                <a:cs typeface="Calibri" pitchFamily="34" charset="-120"/>
              </a:rPr>
              <a:t>“…as batches 3 and 4.” The coordinator then asked if the pipeline was stalled.</a:t>
            </a:r>
            <a:endParaRPr lang="en-US" sz="1400" dirty="0"/>
          </a:p>
        </p:txBody>
      </p:sp>
      <p:sp>
        <p:nvSpPr>
          <p:cNvPr id="19" name="lesson"/>
          <p:cNvSpPr/>
          <p:nvPr/>
        </p:nvSpPr>
        <p:spPr>
          <a:xfrm>
            <a:off x="548640" y="4709160"/>
            <a:ext cx="11091672" cy="1325880"/>
          </a:xfrm>
          <a:prstGeom prst="roundRect">
            <a:avLst>
              <a:gd name="adj" fmla="val 8276"/>
            </a:avLst>
          </a:prstGeom>
          <a:solidFill>
            <a:srgbClr val="1B4332"/>
          </a:solidFill>
          <a:ln w="12700">
            <a:solidFill>
              <a:srgbClr val="1B4332"/>
            </a:solidFill>
            <a:prstDash val="solid"/>
          </a:ln>
          <a:effectLst>
            <a:outerShdw sx="100000" sy="100000" kx="0" ky="0" algn="bl" rotWithShape="0" blurRad="101600" dist="25400" dir="5400000">
              <a:srgbClr val="000000">
                <a:alpha val="12000"/>
              </a:srgbClr>
            </a:outerShdw>
          </a:effectLst>
        </p:spPr>
      </p:sp>
      <p:sp>
        <p:nvSpPr>
          <p:cNvPr id="20" name="Text 18"/>
          <p:cNvSpPr txBox="1"/>
          <p:nvPr/>
        </p:nvSpPr>
        <p:spPr>
          <a:xfrm>
            <a:off x="868680" y="4800600"/>
            <a:ext cx="10424160" cy="1143000"/>
          </a:xfrm>
          <a:prstGeom prst="rect">
            <a:avLst/>
          </a:prstGeom>
          <a:noFill/>
          <a:ln/>
        </p:spPr>
        <p:txBody>
          <a:bodyPr wrap="square" lIns="0" tIns="0" rIns="0" bIns="0" rtlCol="0" anchor="ctr"/>
          <a:lstStyle/>
          <a:p>
            <a:pPr indent="0" marL="0">
              <a:spcAft>
                <a:spcPts val="600"/>
              </a:spcAft>
              <a:buNone/>
            </a:pPr>
            <a:r>
              <a:rPr lang="en-US" sz="1800" b="1" dirty="0">
                <a:solidFill>
                  <a:srgbClr val="FFFFFF"/>
                </a:solidFill>
                <a:latin typeface="Calibri" pitchFamily="34" charset="0"/>
                <a:ea typeface="Calibri" pitchFamily="34" charset="-122"/>
                <a:cs typeface="Calibri" pitchFamily="34" charset="-120"/>
              </a:rPr>
              <a:t>The mandate already said “A rejection takes priority over everything.” </a:t>
            </a:r>
            <a:endParaRPr lang="en-US" sz="1800" dirty="0"/>
          </a:p>
          <a:p>
            <a:pPr indent="0" marL="0">
              <a:spcAft>
                <a:spcPts val="600"/>
              </a:spcAft>
              <a:buNone/>
            </a:pPr>
            <a:r>
              <a:rPr lang="en-US" sz="1800" dirty="0">
                <a:solidFill>
                  <a:srgbClr val="A8D5BF"/>
                </a:solidFill>
                <a:latin typeface="Calibri" pitchFamily="34" charset="0"/>
                <a:ea typeface="Calibri" pitchFamily="34" charset="-122"/>
                <a:cs typeface="Calibri" pitchFamily="34" charset="-120"/>
              </a:rPr>
              <a:t>It was not enough. Fix verified at 23:21, 3 h 31 min later, and still not mergeable: a stale branch.</a:t>
            </a:r>
            <a:endParaRPr lang="en-US" sz="18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8E"/>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rgbClr val="1B4332"/>
                </a:solidFill>
                <a:latin typeface="Cambria" pitchFamily="34" charset="0"/>
                <a:ea typeface="Cambria" pitchFamily="34" charset="-122"/>
                <a:cs typeface="Cambria" pitchFamily="34" charset="-120"/>
              </a:rPr>
              <a:t>A precondition holds. A priority rule doesn't</a:t>
            </a:r>
            <a:endParaRPr lang="en-US" sz="3200" dirty="0"/>
          </a:p>
        </p:txBody>
      </p:sp>
      <p:sp>
        <p:nvSpPr>
          <p:cNvPr id="3" name="fix 1"/>
          <p:cNvSpPr/>
          <p:nvPr/>
        </p:nvSpPr>
        <p:spPr>
          <a:xfrm>
            <a:off x="548640" y="1371600"/>
            <a:ext cx="11091672" cy="1463040"/>
          </a:xfrm>
          <a:prstGeom prst="roundRect">
            <a:avLst>
              <a:gd name="adj" fmla="val 7500"/>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4" name="dot 1"/>
          <p:cNvSpPr/>
          <p:nvPr/>
        </p:nvSpPr>
        <p:spPr>
          <a:xfrm>
            <a:off x="822960" y="1737360"/>
            <a:ext cx="685800" cy="685800"/>
          </a:xfrm>
          <a:prstGeom prst="ellipse">
            <a:avLst/>
          </a:prstGeom>
          <a:solidFill>
            <a:srgbClr val="2D6E50"/>
          </a:solidFill>
          <a:ln w="12700">
            <a:solidFill>
              <a:srgbClr val="2D6E50"/>
            </a:solidFill>
            <a:prstDash val="solid"/>
          </a:ln>
        </p:spPr>
      </p:sp>
      <p:sp>
        <p:nvSpPr>
          <p:cNvPr id="5" name="Text 3"/>
          <p:cNvSpPr txBox="1"/>
          <p:nvPr/>
        </p:nvSpPr>
        <p:spPr>
          <a:xfrm>
            <a:off x="822960" y="173736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6" name="Text 4"/>
          <p:cNvSpPr txBox="1"/>
          <p:nvPr/>
        </p:nvSpPr>
        <p:spPr>
          <a:xfrm>
            <a:off x="1828800" y="1527048"/>
            <a:ext cx="2743200" cy="274320"/>
          </a:xfrm>
          <a:prstGeom prst="rect">
            <a:avLst/>
          </a:prstGeom>
          <a:noFill/>
          <a:ln/>
        </p:spPr>
        <p:txBody>
          <a:bodyPr wrap="square" lIns="0" tIns="0" rIns="0" bIns="0" rtlCol="0" anchor="t"/>
          <a:lstStyle/>
          <a:p>
            <a:pPr indent="0" marL="0">
              <a:buNone/>
            </a:pPr>
            <a:r>
              <a:rPr lang="en-US" sz="1200" b="1" dirty="0">
                <a:solidFill>
                  <a:srgbClr val="6B4FA0"/>
                </a:solidFill>
                <a:latin typeface="Calibri" pitchFamily="34" charset="0"/>
                <a:ea typeface="Calibri" pitchFamily="34" charset="-122"/>
                <a:cs typeface="Calibri" pitchFamily="34" charset="-120"/>
              </a:rPr>
              <a:t>developer.md</a:t>
            </a:r>
            <a:endParaRPr lang="en-US" sz="1200" dirty="0"/>
          </a:p>
        </p:txBody>
      </p:sp>
      <p:sp>
        <p:nvSpPr>
          <p:cNvPr id="7" name="Text 5"/>
          <p:cNvSpPr txBox="1"/>
          <p:nvPr/>
        </p:nvSpPr>
        <p:spPr>
          <a:xfrm>
            <a:off x="1828800" y="1801368"/>
            <a:ext cx="5852160" cy="960120"/>
          </a:xfrm>
          <a:prstGeom prst="rect">
            <a:avLst/>
          </a:prstGeom>
          <a:noFill/>
          <a:ln/>
        </p:spPr>
        <p:txBody>
          <a:bodyPr wrap="square" lIns="0" tIns="0" rIns="0" bIns="0" rtlCol="0" anchor="t"/>
          <a:lstStyle/>
          <a:p>
            <a:pPr indent="0" marL="0">
              <a:buNone/>
            </a:pPr>
            <a:r>
              <a:rPr lang="en-US" sz="1500" i="1" dirty="0">
                <a:solidFill>
                  <a:srgbClr val="1F2A24"/>
                </a:solidFill>
                <a:latin typeface="Calibri" pitchFamily="34" charset="0"/>
                <a:ea typeface="Calibri" pitchFamily="34" charset="-122"/>
                <a:cs typeface="Calibri" pitchFamily="34" charset="-120"/>
              </a:rPr>
              <a:t>“Start a batch only when every batch in its ‘builds on’ line is merged into main.”</a:t>
            </a:r>
            <a:endParaRPr lang="en-US" sz="1500" dirty="0"/>
          </a:p>
        </p:txBody>
      </p:sp>
      <p:sp>
        <p:nvSpPr>
          <p:cNvPr id="8" name="Text 6"/>
          <p:cNvSpPr txBox="1"/>
          <p:nvPr/>
        </p:nvSpPr>
        <p:spPr>
          <a:xfrm>
            <a:off x="7955280" y="1554480"/>
            <a:ext cx="3474720" cy="1143000"/>
          </a:xfrm>
          <a:prstGeom prst="rect">
            <a:avLst/>
          </a:prstGeom>
          <a:noFill/>
          <a:ln/>
        </p:spPr>
        <p:txBody>
          <a:bodyPr wrap="square" lIns="0" tIns="0" rIns="0" bIns="0" rtlCol="0" anchor="ctr"/>
          <a:lstStyle/>
          <a:p>
            <a:pPr indent="0" marL="0">
              <a:buNone/>
            </a:pPr>
            <a:r>
              <a:rPr lang="en-US" sz="1400" dirty="0">
                <a:solidFill>
                  <a:srgbClr val="3A4640"/>
                </a:solidFill>
                <a:latin typeface="Calibri" pitchFamily="34" charset="0"/>
                <a:ea typeface="Calibri" pitchFamily="34" charset="-122"/>
                <a:cs typeface="Calibri" pitchFamily="34" charset="-120"/>
              </a:rPr>
              <a:t>Work is a dependency graph. A batch on top of a rejected batch is simply not ready.</a:t>
            </a:r>
            <a:endParaRPr lang="en-US" sz="1400" dirty="0"/>
          </a:p>
        </p:txBody>
      </p:sp>
      <p:sp>
        <p:nvSpPr>
          <p:cNvPr id="9" name="fix 2"/>
          <p:cNvSpPr/>
          <p:nvPr/>
        </p:nvSpPr>
        <p:spPr>
          <a:xfrm>
            <a:off x="548640" y="2971800"/>
            <a:ext cx="11091672" cy="1463040"/>
          </a:xfrm>
          <a:prstGeom prst="roundRect">
            <a:avLst>
              <a:gd name="adj" fmla="val 7500"/>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0" name="dot 2"/>
          <p:cNvSpPr/>
          <p:nvPr/>
        </p:nvSpPr>
        <p:spPr>
          <a:xfrm>
            <a:off x="822960" y="3337560"/>
            <a:ext cx="685800" cy="685800"/>
          </a:xfrm>
          <a:prstGeom prst="ellipse">
            <a:avLst/>
          </a:prstGeom>
          <a:solidFill>
            <a:srgbClr val="2D6E50"/>
          </a:solidFill>
          <a:ln w="12700">
            <a:solidFill>
              <a:srgbClr val="2D6E50"/>
            </a:solidFill>
            <a:prstDash val="solid"/>
          </a:ln>
        </p:spPr>
      </p:sp>
      <p:sp>
        <p:nvSpPr>
          <p:cNvPr id="11" name="Text 9"/>
          <p:cNvSpPr txBox="1"/>
          <p:nvPr/>
        </p:nvSpPr>
        <p:spPr>
          <a:xfrm>
            <a:off x="822960" y="333756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2" name="Text 10"/>
          <p:cNvSpPr txBox="1"/>
          <p:nvPr/>
        </p:nvSpPr>
        <p:spPr>
          <a:xfrm>
            <a:off x="1828800" y="3127248"/>
            <a:ext cx="2743200" cy="274320"/>
          </a:xfrm>
          <a:prstGeom prst="rect">
            <a:avLst/>
          </a:prstGeom>
          <a:noFill/>
          <a:ln/>
        </p:spPr>
        <p:txBody>
          <a:bodyPr wrap="square" lIns="0" tIns="0" rIns="0" bIns="0" rtlCol="0" anchor="t"/>
          <a:lstStyle/>
          <a:p>
            <a:pPr indent="0" marL="0">
              <a:buNone/>
            </a:pPr>
            <a:r>
              <a:rPr lang="en-US" sz="1200" b="1" dirty="0">
                <a:solidFill>
                  <a:srgbClr val="6B4FA0"/>
                </a:solidFill>
                <a:latin typeface="Calibri" pitchFamily="34" charset="0"/>
                <a:ea typeface="Calibri" pitchFamily="34" charset="-122"/>
                <a:cs typeface="Calibri" pitchFamily="34" charset="-120"/>
              </a:rPr>
              <a:t>developer.md</a:t>
            </a:r>
            <a:endParaRPr lang="en-US" sz="1200" dirty="0"/>
          </a:p>
        </p:txBody>
      </p:sp>
      <p:sp>
        <p:nvSpPr>
          <p:cNvPr id="13" name="Text 11"/>
          <p:cNvSpPr txBox="1"/>
          <p:nvPr/>
        </p:nvSpPr>
        <p:spPr>
          <a:xfrm>
            <a:off x="1828800" y="3401568"/>
            <a:ext cx="5852160" cy="960120"/>
          </a:xfrm>
          <a:prstGeom prst="rect">
            <a:avLst/>
          </a:prstGeom>
          <a:noFill/>
          <a:ln/>
        </p:spPr>
        <p:txBody>
          <a:bodyPr wrap="square" lIns="0" tIns="0" rIns="0" bIns="0" rtlCol="0" anchor="t"/>
          <a:lstStyle/>
          <a:p>
            <a:pPr indent="0" marL="0">
              <a:buNone/>
            </a:pPr>
            <a:r>
              <a:rPr lang="en-US" sz="1500" i="1" dirty="0">
                <a:solidFill>
                  <a:srgbClr val="1F2A24"/>
                </a:solidFill>
                <a:latin typeface="Calibri" pitchFamily="34" charset="0"/>
                <a:ea typeface="Calibri" pitchFamily="34" charset="-122"/>
                <a:cs typeface="Calibri" pitchFamily="34" charset="-120"/>
              </a:rPr>
              <a:t>“One branch per review batch… created from the latest main revision, which must already contain every batch it builds on.”</a:t>
            </a:r>
            <a:endParaRPr lang="en-US" sz="1500" dirty="0"/>
          </a:p>
        </p:txBody>
      </p:sp>
      <p:sp>
        <p:nvSpPr>
          <p:cNvPr id="14" name="Text 12"/>
          <p:cNvSpPr txBox="1"/>
          <p:nvPr/>
        </p:nvSpPr>
        <p:spPr>
          <a:xfrm>
            <a:off x="7955280" y="3154680"/>
            <a:ext cx="3474720" cy="1143000"/>
          </a:xfrm>
          <a:prstGeom prst="rect">
            <a:avLst/>
          </a:prstGeom>
          <a:noFill/>
          <a:ln/>
        </p:spPr>
        <p:txBody>
          <a:bodyPr wrap="square" lIns="0" tIns="0" rIns="0" bIns="0" rtlCol="0" anchor="ctr"/>
          <a:lstStyle/>
          <a:p>
            <a:pPr indent="0" marL="0">
              <a:buNone/>
            </a:pPr>
            <a:r>
              <a:rPr lang="en-US" sz="1400" dirty="0">
                <a:solidFill>
                  <a:srgbClr val="3A4640"/>
                </a:solidFill>
                <a:latin typeface="Calibri" pitchFamily="34" charset="0"/>
                <a:ea typeface="Calibri" pitchFamily="34" charset="-122"/>
                <a:cs typeface="Calibri" pitchFamily="34" charset="-120"/>
              </a:rPr>
              <a:t>Branches such as developer-s2-b3 replace one shared branch that went stale for everyone.</a:t>
            </a:r>
            <a:endParaRPr lang="en-US" sz="1400" dirty="0"/>
          </a:p>
        </p:txBody>
      </p:sp>
      <p:sp>
        <p:nvSpPr>
          <p:cNvPr id="15" name="fix 3"/>
          <p:cNvSpPr/>
          <p:nvPr/>
        </p:nvSpPr>
        <p:spPr>
          <a:xfrm>
            <a:off x="548640" y="4572000"/>
            <a:ext cx="11091672" cy="1463040"/>
          </a:xfrm>
          <a:prstGeom prst="roundRect">
            <a:avLst>
              <a:gd name="adj" fmla="val 7500"/>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6" name="dot 3"/>
          <p:cNvSpPr/>
          <p:nvPr/>
        </p:nvSpPr>
        <p:spPr>
          <a:xfrm>
            <a:off x="822960" y="4937760"/>
            <a:ext cx="685800" cy="685800"/>
          </a:xfrm>
          <a:prstGeom prst="ellipse">
            <a:avLst/>
          </a:prstGeom>
          <a:solidFill>
            <a:srgbClr val="2D6E50"/>
          </a:solidFill>
          <a:ln w="12700">
            <a:solidFill>
              <a:srgbClr val="2D6E50"/>
            </a:solidFill>
            <a:prstDash val="solid"/>
          </a:ln>
        </p:spPr>
      </p:sp>
      <p:sp>
        <p:nvSpPr>
          <p:cNvPr id="17" name="Text 15"/>
          <p:cNvSpPr txBox="1"/>
          <p:nvPr/>
        </p:nvSpPr>
        <p:spPr>
          <a:xfrm>
            <a:off x="822960" y="493776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8" name="Text 16"/>
          <p:cNvSpPr txBox="1"/>
          <p:nvPr/>
        </p:nvSpPr>
        <p:spPr>
          <a:xfrm>
            <a:off x="1828800" y="4727448"/>
            <a:ext cx="2743200" cy="274320"/>
          </a:xfrm>
          <a:prstGeom prst="rect">
            <a:avLst/>
          </a:prstGeom>
          <a:noFill/>
          <a:ln/>
        </p:spPr>
        <p:txBody>
          <a:bodyPr wrap="square" lIns="0" tIns="0" rIns="0" bIns="0" rtlCol="0" anchor="t"/>
          <a:lstStyle/>
          <a:p>
            <a:pPr indent="0" marL="0">
              <a:buNone/>
            </a:pPr>
            <a:r>
              <a:rPr lang="en-US" sz="1200" b="1" dirty="0">
                <a:solidFill>
                  <a:srgbClr val="6B4FA0"/>
                </a:solidFill>
                <a:latin typeface="Calibri" pitchFamily="34" charset="0"/>
                <a:ea typeface="Calibri" pitchFamily="34" charset="-122"/>
                <a:cs typeface="Calibri" pitchFamily="34" charset="-120"/>
              </a:rPr>
              <a:t>coordinator.md</a:t>
            </a:r>
            <a:endParaRPr lang="en-US" sz="1200" dirty="0"/>
          </a:p>
        </p:txBody>
      </p:sp>
      <p:sp>
        <p:nvSpPr>
          <p:cNvPr id="19" name="Text 17"/>
          <p:cNvSpPr txBox="1"/>
          <p:nvPr/>
        </p:nvSpPr>
        <p:spPr>
          <a:xfrm>
            <a:off x="1828800" y="5001768"/>
            <a:ext cx="5852160" cy="960120"/>
          </a:xfrm>
          <a:prstGeom prst="rect">
            <a:avLst/>
          </a:prstGeom>
          <a:noFill/>
          <a:ln/>
        </p:spPr>
        <p:txBody>
          <a:bodyPr wrap="square" lIns="0" tIns="0" rIns="0" bIns="0" rtlCol="0" anchor="t"/>
          <a:lstStyle/>
          <a:p>
            <a:pPr indent="0" marL="0">
              <a:buNone/>
            </a:pPr>
            <a:r>
              <a:rPr lang="en-US" sz="1500" i="1" dirty="0">
                <a:solidFill>
                  <a:srgbClr val="1F2A24"/>
                </a:solidFill>
                <a:latin typeface="Calibri" pitchFamily="34" charset="0"/>
                <a:ea typeface="Calibri" pitchFamily="34" charset="-122"/>
                <a:cs typeface="Calibri" pitchFamily="34" charset="-120"/>
              </a:rPr>
              <a:t>“Arrange the batches so that at least two can start from the stage's first revision wherever the design allows.”</a:t>
            </a:r>
            <a:endParaRPr lang="en-US" sz="1500" dirty="0"/>
          </a:p>
        </p:txBody>
      </p:sp>
      <p:sp>
        <p:nvSpPr>
          <p:cNvPr id="20" name="Text 18"/>
          <p:cNvSpPr txBox="1"/>
          <p:nvPr/>
        </p:nvSpPr>
        <p:spPr>
          <a:xfrm>
            <a:off x="7955280" y="4754880"/>
            <a:ext cx="3474720" cy="1143000"/>
          </a:xfrm>
          <a:prstGeom prst="rect">
            <a:avLst/>
          </a:prstGeom>
          <a:noFill/>
          <a:ln/>
        </p:spPr>
        <p:txBody>
          <a:bodyPr wrap="square" lIns="0" tIns="0" rIns="0" bIns="0" rtlCol="0" anchor="ctr"/>
          <a:lstStyle/>
          <a:p>
            <a:pPr indent="0" marL="0">
              <a:buNone/>
            </a:pPr>
            <a:r>
              <a:rPr lang="en-US" sz="1400" dirty="0">
                <a:solidFill>
                  <a:srgbClr val="3A4640"/>
                </a:solidFill>
                <a:latin typeface="Calibri" pitchFamily="34" charset="0"/>
                <a:ea typeface="Calibri" pitchFamily="34" charset="-122"/>
                <a:cs typeface="Calibri" pitchFamily="34" charset="-120"/>
              </a:rPr>
              <a:t>Stage 2 and 3 task lists run two batches in parallel; stages 1 and 4 record why they cannot.</a:t>
            </a:r>
            <a:endParaRPr lang="en-US" sz="1400" dirty="0"/>
          </a:p>
        </p:txBody>
      </p:sp>
      <p:sp>
        <p:nvSpPr>
          <p:cNvPr id="21" name="Text 19"/>
          <p:cNvSpPr txBox="1"/>
          <p:nvPr/>
        </p:nvSpPr>
        <p:spPr>
          <a:xfrm>
            <a:off x="548640" y="6172200"/>
            <a:ext cx="10058400" cy="320040"/>
          </a:xfrm>
          <a:prstGeom prst="rect">
            <a:avLst/>
          </a:prstGeom>
          <a:noFill/>
          <a:ln/>
        </p:spPr>
        <p:txBody>
          <a:bodyPr wrap="square" lIns="0" tIns="0" rIns="0" bIns="0" rtlCol="0" anchor="t"/>
          <a:lstStyle/>
          <a:p>
            <a:pPr indent="0" marL="0">
              <a:buNone/>
            </a:pPr>
            <a:r>
              <a:rPr lang="en-US" sz="1400" dirty="0">
                <a:solidFill>
                  <a:srgbClr val="5A645E"/>
                </a:solidFill>
                <a:latin typeface="Calibri" pitchFamily="34" charset="0"/>
                <a:ea typeface="Calibri" pitchFamily="34" charset="-122"/>
                <a:cs typeface="Calibri" pitchFamily="34" charset="-120"/>
              </a:rPr>
              <a:t>Reviews are batches of 3 to 5 per stage; the developer still commits every task for traceability.</a:t>
            </a:r>
            <a:endParaRPr lang="en-US" sz="1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8E"/>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rgbClr val="1B4332"/>
                </a:solidFill>
                <a:latin typeface="Cambria" pitchFamily="34" charset="0"/>
                <a:ea typeface="Cambria" pitchFamily="34" charset="-122"/>
                <a:cs typeface="Cambria" pitchFamily="34" charset="-120"/>
              </a:rPr>
              <a:t>What the room logs show, run 1 vs run 2</a:t>
            </a:r>
            <a:endParaRPr lang="en-US" sz="3200" dirty="0"/>
          </a:p>
        </p:txBody>
      </p:sp>
      <p:graphicFrame>
        <p:nvGraphicFramePr>
          <p:cNvPr id="8" name="evidence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4663440"/>
                <a:gridCol w="3337560"/>
                <a:gridCol w="3090672"/>
              </a:tblGrid>
              <a:tr h="566928">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Measure</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1B433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Run 1</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B4442F"/>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Run 2</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2D6E50"/>
                    </a:solidFill>
                  </a:tcPr>
                </a:tc>
              </a:tr>
              <a:tr h="566928">
                <a:tc>
                  <a:txBody>
                    <a:bodyPr/>
                    <a:lstStyle/>
                    <a:p>
                      <a:pPr indent="0" marL="0">
                        <a:buNone/>
                      </a:pPr>
                      <a:r>
                        <a:rPr lang="en-US" sz="1500" dirty="0">
                          <a:solidFill>
                            <a:srgbClr val="1F2A24"/>
                          </a:solidFill>
                          <a:latin typeface="Calibri" pitchFamily="34" charset="0"/>
                          <a:ea typeface="Calibri" pitchFamily="34" charset="-122"/>
                          <a:cs typeface="Calibri" pitchFamily="34" charset="-120"/>
                        </a:rPr>
                        <a:t>Human messages after the first dispatch</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500" b="1" dirty="0">
                          <a:solidFill>
                            <a:srgbClr val="B4442F"/>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500" b="1" dirty="0">
                          <a:solidFill>
                            <a:srgbClr val="2D6E5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1F2A24"/>
                          </a:solidFill>
                          <a:latin typeface="Calibri" pitchFamily="34" charset="0"/>
                          <a:ea typeface="Calibri" pitchFamily="34" charset="-122"/>
                          <a:cs typeface="Calibri" pitchFamily="34" charset="-120"/>
                        </a:rPr>
                        <a:t>Ticks sent while the room was healthy</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500" b="1" dirty="0">
                          <a:solidFill>
                            <a:srgbClr val="B4442F"/>
                          </a:solidFill>
                          <a:latin typeface="Calibri" pitchFamily="34" charset="0"/>
                          <a:ea typeface="Calibri" pitchFamily="34" charset="-122"/>
                          <a:cs typeface="Calibri" pitchFamily="34" charset="-120"/>
                        </a:rPr>
                        <a:t>49 of 65 (75%)</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500" b="1" dirty="0">
                          <a:solidFill>
                            <a:srgbClr val="2D6E50"/>
                          </a:solidFill>
                          <a:latin typeface="Calibri" pitchFamily="34" charset="0"/>
                          <a:ea typeface="Calibri" pitchFamily="34" charset="-122"/>
                          <a:cs typeface="Calibri" pitchFamily="34" charset="-120"/>
                        </a:rPr>
                        <a:t>1 of 42 (2%)</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1F2A24"/>
                          </a:solidFill>
                          <a:latin typeface="Calibri" pitchFamily="34" charset="0"/>
                          <a:ea typeface="Calibri" pitchFamily="34" charset="-122"/>
                          <a:cs typeface="Calibri" pitchFamily="34" charset="-120"/>
                        </a:rPr>
                        <a:t>Batches stacked on a rejected batch</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500" b="1" dirty="0">
                          <a:solidFill>
                            <a:srgbClr val="B4442F"/>
                          </a:solidFill>
                          <a:latin typeface="Calibri" pitchFamily="34" charset="0"/>
                          <a:ea typeface="Calibri" pitchFamily="34" charset="-122"/>
                          <a:cs typeface="Calibri" pitchFamily="34" charset="-120"/>
                        </a:rPr>
                        <a:t>4 messages, one chain</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500" b="1" dirty="0">
                          <a:solidFill>
                            <a:srgbClr val="2D6E5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1F2A24"/>
                          </a:solidFill>
                          <a:latin typeface="Calibri" pitchFamily="34" charset="0"/>
                          <a:ea typeface="Calibri" pitchFamily="34" charset="-122"/>
                          <a:cs typeface="Calibri" pitchFamily="34" charset="-120"/>
                        </a:rPr>
                        <a:t>Rejection to fix merged</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500" b="1" dirty="0">
                          <a:solidFill>
                            <a:srgbClr val="B4442F"/>
                          </a:solidFill>
                          <a:latin typeface="Calibri" pitchFamily="34" charset="0"/>
                          <a:ea typeface="Calibri" pitchFamily="34" charset="-122"/>
                          <a:cs typeface="Calibri" pitchFamily="34" charset="-120"/>
                        </a:rPr>
                        <a:t>3 h 31 min, not yet mergeable</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500" b="1" dirty="0">
                          <a:solidFill>
                            <a:srgbClr val="2D6E50"/>
                          </a:solidFill>
                          <a:latin typeface="Calibri" pitchFamily="34" charset="0"/>
                          <a:ea typeface="Calibri" pitchFamily="34" charset="-122"/>
                          <a:cs typeface="Calibri" pitchFamily="34" charset="-120"/>
                        </a:rPr>
                        <a:t>7, 14, 15, 15, 58 min</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1F2A24"/>
                          </a:solidFill>
                          <a:latin typeface="Calibri" pitchFamily="34" charset="0"/>
                          <a:ea typeface="Calibri" pitchFamily="34" charset="-122"/>
                          <a:cs typeface="Calibri" pitchFamily="34" charset="-120"/>
                        </a:rPr>
                        <a:t>Room message cap (10,000)</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500" b="1" dirty="0">
                          <a:solidFill>
                            <a:srgbClr val="B4442F"/>
                          </a:solidFill>
                          <a:latin typeface="Calibri" pitchFamily="34" charset="0"/>
                          <a:ea typeface="Calibri" pitchFamily="34" charset="-122"/>
                          <a:cs typeface="Calibri" pitchFamily="34" charset="-120"/>
                        </a:rPr>
                        <a:t>Full in stage 4; sends rejected</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500" b="1" dirty="0">
                          <a:solidFill>
                            <a:srgbClr val="2D6E50"/>
                          </a:solidFill>
                          <a:latin typeface="Calibri" pitchFamily="34" charset="0"/>
                          <a:ea typeface="Calibri" pitchFamily="34" charset="-122"/>
                          <a:cs typeface="Calibri" pitchFamily="34" charset="-120"/>
                        </a:rPr>
                        <a:t>Largest room: 4,621</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1F2A24"/>
                          </a:solidFill>
                          <a:latin typeface="Calibri" pitchFamily="34" charset="0"/>
                          <a:ea typeface="Calibri" pitchFamily="34" charset="-122"/>
                          <a:cs typeface="Calibri" pitchFamily="34" charset="-120"/>
                        </a:rPr>
                        <a:t>Stage handover to a new room</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500" b="1" dirty="0">
                          <a:solidFill>
                            <a:srgbClr val="B4442F"/>
                          </a:solidFill>
                          <a:latin typeface="Calibri" pitchFamily="34" charset="0"/>
                          <a:ea typeface="Calibri" pitchFamily="34" charset="-122"/>
                          <a:cs typeface="Calibri" pitchFamily="34" charset="-120"/>
                        </a:rPr>
                        <a:t>Written by the human</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500" b="1" dirty="0">
                          <a:solidFill>
                            <a:srgbClr val="2D6E50"/>
                          </a:solidFill>
                          <a:latin typeface="Calibri" pitchFamily="34" charset="0"/>
                          <a:ea typeface="Calibri" pitchFamily="34" charset="-122"/>
                          <a:cs typeface="Calibri" pitchFamily="34" charset="-120"/>
                        </a:rPr>
                        <a:t>Automated handover.md</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1F2A24"/>
                          </a:solidFill>
                          <a:latin typeface="Calibri" pitchFamily="34" charset="0"/>
                          <a:ea typeface="Calibri" pitchFamily="34" charset="-122"/>
                          <a:cs typeface="Calibri" pitchFamily="34" charset="-120"/>
                        </a:rPr>
                        <a:t>Close-out before a stage report</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500" b="1" dirty="0">
                          <a:solidFill>
                            <a:srgbClr val="B4442F"/>
                          </a:solidFill>
                          <a:latin typeface="Calibri" pitchFamily="34" charset="0"/>
                          <a:ea typeface="Calibri" pitchFamily="34" charset="-122"/>
                          <a:cs typeface="Calibri" pitchFamily="34" charset="-120"/>
                        </a:rPr>
                        <a:t>None</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500" b="1" dirty="0">
                          <a:solidFill>
                            <a:srgbClr val="2D6E50"/>
                          </a:solidFill>
                          <a:latin typeface="Calibri" pitchFamily="34" charset="0"/>
                          <a:ea typeface="Calibri" pitchFamily="34" charset="-122"/>
                          <a:cs typeface="Calibri" pitchFamily="34" charset="-120"/>
                        </a:rPr>
                        <a:t>Roll call to every seat</a:t>
                      </a:r>
                      <a:endParaRPr lang="en-US" sz="1500" dirty="0">
                        <a:latin typeface="Calibri" charset="0"/>
                        <a:ea typeface="Calibri" charset="0"/>
                        <a:cs typeface="Calibri" charset="0"/>
                      </a:endParaRPr>
                    </a:p>
                  </a:txBody>
                  <a:tcPr marL="137160" marR="137160" marT="45720" marB="45720"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6035040"/>
            <a:ext cx="10058400" cy="320040"/>
          </a:xfrm>
          <a:prstGeom prst="rect">
            <a:avLst/>
          </a:prstGeom>
          <a:noFill/>
          <a:ln/>
        </p:spPr>
        <p:txBody>
          <a:bodyPr wrap="square" lIns="0" tIns="0" rIns="0" bIns="0" rtlCol="0" anchor="t"/>
          <a:lstStyle/>
          <a:p>
            <a:pPr indent="0" marL="0">
              <a:buNone/>
            </a:pPr>
            <a:r>
              <a:rPr lang="en-US" sz="1200" dirty="0">
                <a:solidFill>
                  <a:srgbClr val="5A645E"/>
                </a:solidFill>
                <a:latin typeface="Calibri" pitchFamily="34" charset="0"/>
                <a:ea typeface="Calibri" pitchFamily="34" charset="-122"/>
                <a:cs typeface="Calibri" pitchFamily="34" charset="-120"/>
              </a:rPr>
              <a:t>Counts are from the exported room logs (UTC); keyword counts where noted in FACTORY.md.</a:t>
            </a:r>
            <a:endParaRPr lang="en-US" sz="12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8E"/>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rgbClr val="1B4332"/>
                </a:solidFill>
                <a:latin typeface="Cambria" pitchFamily="34" charset="0"/>
                <a:ea typeface="Cambria" pitchFamily="34" charset="-122"/>
                <a:cs typeface="Cambria" pitchFamily="34" charset="-120"/>
              </a:rPr>
              <a:t>UI quality became evidence, not opinion</a:t>
            </a:r>
            <a:endParaRPr lang="en-US" sz="3200" dirty="0"/>
          </a:p>
        </p:txBody>
      </p:sp>
      <p:pic>
        <p:nvPicPr>
          <p:cNvPr id="3" name="Image 0" descr="Pebble home screen at phone width showing an uncertain payment warning">    </p:cNvPr>
          <p:cNvPicPr>
            <a:picLocks noChangeAspect="1"/>
          </p:cNvPicPr>
          <p:nvPr/>
        </p:nvPicPr>
        <p:blipFill>
          <a:blip r:embed="rId1"/>
          <a:stretch>
            <a:fillRect/>
          </a:stretch>
        </p:blipFill>
        <p:spPr>
          <a:xfrm>
            <a:off x="548640" y="1325880"/>
            <a:ext cx="2258568" cy="4572000"/>
          </a:xfrm>
          <a:prstGeom prst="rect">
            <a:avLst/>
          </a:prstGeom>
          <a:effectLst>
            <a:outerShdw sx="100000" sy="100000" kx="0" ky="0" algn="bl" rotWithShape="0" blurRad="101600" dist="25400" dir="5400000">
              <a:srgbClr val="000000">
                <a:alpha val="12000"/>
              </a:srgbClr>
            </a:outerShdw>
          </a:effectLst>
        </p:spPr>
      </p:pic>
      <p:pic>
        <p:nvPicPr>
          <p:cNvPr id="4" name="Image 1" descr="Pebble home screen at desktop width showing available and held balance">    </p:cNvPr>
          <p:cNvPicPr>
            <a:picLocks noChangeAspect="1"/>
          </p:cNvPicPr>
          <p:nvPr/>
        </p:nvPicPr>
        <p:blipFill>
          <a:blip r:embed="rId2"/>
          <a:stretch>
            <a:fillRect/>
          </a:stretch>
        </p:blipFill>
        <p:spPr>
          <a:xfrm>
            <a:off x="3063240" y="1325880"/>
            <a:ext cx="5394960" cy="3794760"/>
          </a:xfrm>
          <a:prstGeom prst="rect">
            <a:avLst/>
          </a:prstGeom>
          <a:effectLst>
            <a:outerShdw sx="100000" sy="100000" kx="0" ky="0" algn="bl" rotWithShape="0" blurRad="101600" dist="25400" dir="5400000">
              <a:srgbClr val="000000">
                <a:alpha val="12000"/>
              </a:srgbClr>
            </a:outerShdw>
          </a:effectLst>
        </p:spPr>
      </p:pic>
      <p:sp>
        <p:nvSpPr>
          <p:cNvPr id="5" name="Text 1"/>
          <p:cNvSpPr txBox="1"/>
          <p:nvPr/>
        </p:nvSpPr>
        <p:spPr>
          <a:xfrm>
            <a:off x="3063240" y="5303520"/>
            <a:ext cx="5394960" cy="640080"/>
          </a:xfrm>
          <a:prstGeom prst="rect">
            <a:avLst/>
          </a:prstGeom>
          <a:noFill/>
          <a:ln/>
        </p:spPr>
        <p:txBody>
          <a:bodyPr wrap="square" lIns="0" tIns="0" rIns="0" bIns="0" rtlCol="0" anchor="t"/>
          <a:lstStyle/>
          <a:p>
            <a:pPr indent="0" marL="0">
              <a:buNone/>
            </a:pPr>
            <a:r>
              <a:rPr lang="en-US" sz="1300" dirty="0">
                <a:solidFill>
                  <a:srgbClr val="5A645E"/>
                </a:solidFill>
                <a:latin typeface="Calibri" pitchFamily="34" charset="0"/>
                <a:ea typeface="Calibri" pitchFamily="34" charset="-122"/>
                <a:cs typeface="Calibri" pitchFamily="34" charset="-120"/>
              </a:rPr>
              <a:t>Left: phone, 375 px. A lost payment response shows “We couldn't confirm this payment”, and Pay retries with the same key. Right: desktop wallet with a 30.00 hold.</a:t>
            </a:r>
            <a:endParaRPr lang="en-US" sz="1300" dirty="0"/>
          </a:p>
        </p:txBody>
      </p:sp>
      <p:sp>
        <p:nvSpPr>
          <p:cNvPr id="6" name="ui text card"/>
          <p:cNvSpPr/>
          <p:nvPr/>
        </p:nvSpPr>
        <p:spPr>
          <a:xfrm>
            <a:off x="8641080" y="1325880"/>
            <a:ext cx="2999232" cy="4572000"/>
          </a:xfrm>
          <a:prstGeom prst="roundRect">
            <a:avLst>
              <a:gd name="adj" fmla="val 3659"/>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Text 3"/>
          <p:cNvSpPr txBox="1"/>
          <p:nvPr/>
        </p:nvSpPr>
        <p:spPr>
          <a:xfrm>
            <a:off x="8915400" y="1463040"/>
            <a:ext cx="2468880" cy="822960"/>
          </a:xfrm>
          <a:prstGeom prst="rect">
            <a:avLst/>
          </a:prstGeom>
          <a:noFill/>
          <a:ln/>
        </p:spPr>
        <p:txBody>
          <a:bodyPr wrap="square" lIns="0" tIns="0" rIns="0" bIns="0" rtlCol="0" anchor="t"/>
          <a:lstStyle/>
          <a:p>
            <a:pPr indent="0" marL="0">
              <a:buNone/>
            </a:pPr>
            <a:r>
              <a:rPr lang="en-US" sz="5400" b="1" dirty="0">
                <a:solidFill>
                  <a:srgbClr val="2D6E50"/>
                </a:solidFill>
                <a:latin typeface="Cambria" pitchFamily="34" charset="0"/>
                <a:ea typeface="Cambria" pitchFamily="34" charset="-122"/>
                <a:cs typeface="Cambria" pitchFamily="34" charset="-120"/>
              </a:rPr>
              <a:t>35</a:t>
            </a:r>
            <a:endParaRPr lang="en-US" sz="5400" dirty="0"/>
          </a:p>
        </p:txBody>
      </p:sp>
      <p:sp>
        <p:nvSpPr>
          <p:cNvPr id="8" name="Text 4"/>
          <p:cNvSpPr txBox="1"/>
          <p:nvPr/>
        </p:nvSpPr>
        <p:spPr>
          <a:xfrm>
            <a:off x="8915400" y="2331720"/>
            <a:ext cx="2514600" cy="1280160"/>
          </a:xfrm>
          <a:prstGeom prst="rect">
            <a:avLst/>
          </a:prstGeom>
          <a:noFill/>
          <a:ln/>
        </p:spPr>
        <p:txBody>
          <a:bodyPr wrap="square" lIns="0" tIns="0" rIns="0" bIns="0" rtlCol="0" anchor="t"/>
          <a:lstStyle/>
          <a:p>
            <a:pPr indent="0" marL="0">
              <a:buNone/>
            </a:pPr>
            <a:r>
              <a:rPr lang="en-US" sz="1400" dirty="0">
                <a:solidFill>
                  <a:srgbClr val="1F2A24"/>
                </a:solidFill>
                <a:latin typeface="Calibri" pitchFamily="34" charset="0"/>
                <a:ea typeface="Calibri" pitchFamily="34" charset="-122"/>
                <a:cs typeface="Calibri" pitchFamily="34" charset="-120"/>
              </a:rPr>
              <a:t>screenshots committed, at 375 px and 1280 px, in empty, loading, error and success states</a:t>
            </a:r>
            <a:endParaRPr lang="en-US" sz="1400" dirty="0"/>
          </a:p>
        </p:txBody>
      </p:sp>
      <p:sp>
        <p:nvSpPr>
          <p:cNvPr id="9" name="Text 5"/>
          <p:cNvSpPr txBox="1"/>
          <p:nvPr/>
        </p:nvSpPr>
        <p:spPr>
          <a:xfrm>
            <a:off x="8915400" y="3703320"/>
            <a:ext cx="2514600" cy="2103120"/>
          </a:xfrm>
          <a:prstGeom prst="rect">
            <a:avLst/>
          </a:prstGeom>
          <a:noFill/>
          <a:ln/>
        </p:spPr>
        <p:txBody>
          <a:bodyPr wrap="square" lIns="0" tIns="0" rIns="0" bIns="0" rtlCol="0" anchor="t"/>
          <a:lstStyle/>
          <a:p>
            <a:pPr indent="0" marL="0">
              <a:buNone/>
            </a:pPr>
            <a:r>
              <a:rPr lang="en-US" sz="1400" dirty="0">
                <a:solidFill>
                  <a:srgbClr val="3A4640"/>
                </a:solidFill>
                <a:latin typeface="Calibri" pitchFamily="34" charset="0"/>
                <a:ea typeface="Calibri" pitchFamily="34" charset="-122"/>
                <a:cs typeface="Calibri" pitchFamily="34" charset="-120"/>
              </a:rPr>
              <a:t>The reviewer must look at them and may reject only against a stated requirement and a screenshot path. One batch was rejected this way and the fix is in the repo.</a:t>
            </a:r>
            <a:endParaRPr lang="en-US" sz="1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8E"/>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rgbClr val="1B4332"/>
                </a:solidFill>
                <a:latin typeface="Cambria" pitchFamily="34" charset="0"/>
                <a:ea typeface="Cambria" pitchFamily="34" charset="-122"/>
                <a:cs typeface="Cambria" pitchFamily="34" charset="-120"/>
              </a:rPr>
              <a:t>How the factory catches bad work</a:t>
            </a:r>
            <a:endParaRPr lang="en-US" sz="3200" dirty="0"/>
          </a:p>
        </p:txBody>
      </p:sp>
      <p:graphicFrame>
        <p:nvGraphicFramePr>
          <p:cNvPr id="10" name="rejections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2651760"/>
                <a:gridCol w="3017520"/>
                <a:gridCol w="5422392"/>
              </a:tblGrid>
              <a:tr h="62179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Failure</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1B433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Caught by</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1B4332"/>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Real example from the logs</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1B4332"/>
                    </a:solidFill>
                  </a:tcPr>
                </a:tc>
              </a:tr>
              <a:tr h="621792">
                <a:tc>
                  <a:txBody>
                    <a:bodyPr/>
                    <a:lstStyle/>
                    <a:p>
                      <a:pPr indent="0" marL="0">
                        <a:buNone/>
                      </a:pPr>
                      <a:r>
                        <a:rPr lang="en-US" sz="1400" b="1" dirty="0">
                          <a:solidFill>
                            <a:srgbClr val="1F2A24"/>
                          </a:solidFill>
                          <a:latin typeface="Calibri" pitchFamily="34" charset="0"/>
                          <a:ea typeface="Calibri" pitchFamily="34" charset="-122"/>
                          <a:cs typeface="Calibri" pitchFamily="34" charset="-120"/>
                        </a:rPr>
                        <a:t>Contradictory requirement</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400" dirty="0">
                          <a:solidFill>
                            <a:srgbClr val="1F2A24"/>
                          </a:solidFill>
                          <a:latin typeface="Calibri" pitchFamily="34" charset="0"/>
                          <a:ea typeface="Calibri" pitchFamily="34" charset="-122"/>
                          <a:cs typeface="Calibri" pitchFamily="34" charset="-120"/>
                        </a:rPr>
                        <a:t>Tester's completeness review, before code</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400" dirty="0">
                          <a:solidFill>
                            <a:srgbClr val="1F2A24"/>
                          </a:solidFill>
                          <a:latin typeface="Calibri" pitchFamily="34" charset="0"/>
                          <a:ea typeface="Calibri" pitchFamily="34" charset="-122"/>
                          <a:cs typeface="Calibri" pitchFamily="34" charset="-120"/>
                        </a:rPr>
                        <a:t>Stage 4: R303's wording contradicted its own acceptance criterion about who is debited on a refund</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r>
              <a:tr h="621792">
                <a:tc>
                  <a:txBody>
                    <a:bodyPr/>
                    <a:lstStyle/>
                    <a:p>
                      <a:pPr indent="0" marL="0">
                        <a:buNone/>
                      </a:pPr>
                      <a:r>
                        <a:rPr lang="en-US" sz="1400" b="1" dirty="0">
                          <a:solidFill>
                            <a:srgbClr val="1F2A24"/>
                          </a:solidFill>
                          <a:latin typeface="Calibri" pitchFamily="34" charset="0"/>
                          <a:ea typeface="Calibri" pitchFamily="34" charset="-122"/>
                          <a:cs typeface="Calibri" pitchFamily="34" charset="-120"/>
                        </a:rPr>
                        <a:t>Wrong behaviour, tests green</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400" dirty="0">
                          <a:solidFill>
                            <a:srgbClr val="1F2A24"/>
                          </a:solidFill>
                          <a:latin typeface="Calibri" pitchFamily="34" charset="0"/>
                          <a:ea typeface="Calibri" pitchFamily="34" charset="-122"/>
                          <a:cs typeface="Calibri" pitchFamily="34" charset="-120"/>
                        </a:rPr>
                        <a:t>Reviewer's own black-box probes</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400" dirty="0">
                          <a:solidFill>
                            <a:srgbClr val="1F2A24"/>
                          </a:solidFill>
                          <a:latin typeface="Calibri" pitchFamily="34" charset="0"/>
                          <a:ea typeface="Calibri" pitchFamily="34" charset="-122"/>
                          <a:cs typeface="Calibri" pitchFamily="34" charset="-120"/>
                        </a:rPr>
                        <a:t>Stage 1 R79: validation precedence wrong with 112 of 112 unit tests passing</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r>
              <a:tr h="621792">
                <a:tc>
                  <a:txBody>
                    <a:bodyPr/>
                    <a:lstStyle/>
                    <a:p>
                      <a:pPr indent="0" marL="0">
                        <a:buNone/>
                      </a:pPr>
                      <a:r>
                        <a:rPr lang="en-US" sz="1400" b="1" dirty="0">
                          <a:solidFill>
                            <a:srgbClr val="1F2A24"/>
                          </a:solidFill>
                          <a:latin typeface="Calibri" pitchFamily="34" charset="0"/>
                          <a:ea typeface="Calibri" pitchFamily="34" charset="-122"/>
                          <a:cs typeface="Calibri" pitchFamily="34" charset="-120"/>
                        </a:rPr>
                        <a:t>UI defect</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400" dirty="0">
                          <a:solidFill>
                            <a:srgbClr val="1F2A24"/>
                          </a:solidFill>
                          <a:latin typeface="Calibri" pitchFamily="34" charset="0"/>
                          <a:ea typeface="Calibri" pitchFamily="34" charset="-122"/>
                          <a:cs typeface="Calibri" pitchFamily="34" charset="-120"/>
                        </a:rPr>
                        <a:t>Screenshots at two widths</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400" dirty="0">
                          <a:solidFill>
                            <a:srgbClr val="1F2A24"/>
                          </a:solidFill>
                          <a:latin typeface="Calibri" pitchFamily="34" charset="0"/>
                          <a:ea typeface="Calibri" pitchFamily="34" charset="-122"/>
                          <a:cs typeface="Calibri" pitchFamily="34" charset="-120"/>
                        </a:rPr>
                        <a:t>Stage 2: authorization errors rendered in the wrong part of the page</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r>
              <a:tr h="621792">
                <a:tc>
                  <a:txBody>
                    <a:bodyPr/>
                    <a:lstStyle/>
                    <a:p>
                      <a:pPr indent="0" marL="0">
                        <a:buNone/>
                      </a:pPr>
                      <a:r>
                        <a:rPr lang="en-US" sz="1400" b="1" dirty="0">
                          <a:solidFill>
                            <a:srgbClr val="1F2A24"/>
                          </a:solidFill>
                          <a:latin typeface="Calibri" pitchFamily="34" charset="0"/>
                          <a:ea typeface="Calibri" pitchFamily="34" charset="-122"/>
                          <a:cs typeface="Calibri" pitchFamily="34" charset="-120"/>
                        </a:rPr>
                        <a:t>Data integrity</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400" dirty="0">
                          <a:solidFill>
                            <a:srgbClr val="1F2A24"/>
                          </a:solidFill>
                          <a:latin typeface="Calibri" pitchFamily="34" charset="0"/>
                          <a:ea typeface="Calibri" pitchFamily="34" charset="-122"/>
                          <a:cs typeface="Calibri" pitchFamily="34" charset="-120"/>
                        </a:rPr>
                        <a:t>Invariant stress probes</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400" dirty="0">
                          <a:solidFill>
                            <a:srgbClr val="1F2A24"/>
                          </a:solidFill>
                          <a:latin typeface="Calibri" pitchFamily="34" charset="0"/>
                          <a:ea typeface="Calibri" pitchFamily="34" charset="-122"/>
                          <a:cs typeface="Calibri" pitchFamily="34" charset="-120"/>
                        </a:rPr>
                        <a:t>Stage 3 R218: reset never checked the opening balance was non-negative</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r>
              <a:tr h="621792">
                <a:tc>
                  <a:txBody>
                    <a:bodyPr/>
                    <a:lstStyle/>
                    <a:p>
                      <a:pPr indent="0" marL="0">
                        <a:buNone/>
                      </a:pPr>
                      <a:r>
                        <a:rPr lang="en-US" sz="1400" b="1" dirty="0">
                          <a:solidFill>
                            <a:srgbClr val="1F2A24"/>
                          </a:solidFill>
                          <a:latin typeface="Calibri" pitchFamily="34" charset="0"/>
                          <a:ea typeface="Calibri" pitchFamily="34" charset="-122"/>
                          <a:cs typeface="Calibri" pitchFamily="34" charset="-120"/>
                        </a:rPr>
                        <a:t>Crash on real state</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400" dirty="0">
                          <a:solidFill>
                            <a:srgbClr val="1F2A24"/>
                          </a:solidFill>
                          <a:latin typeface="Calibri" pitchFamily="34" charset="0"/>
                          <a:ea typeface="Calibri" pitchFamily="34" charset="-122"/>
                          <a:cs typeface="Calibri" pitchFamily="34" charset="-120"/>
                        </a:rPr>
                        <a:t>Reviewer exercises export with state</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400" dirty="0">
                          <a:solidFill>
                            <a:srgbClr val="1F2A24"/>
                          </a:solidFill>
                          <a:latin typeface="Calibri" pitchFamily="34" charset="0"/>
                          <a:ea typeface="Calibri" pitchFamily="34" charset="-122"/>
                          <a:cs typeface="Calibri" pitchFamily="34" charset="-120"/>
                        </a:rPr>
                        <a:t>Stage 3: export crashed once a statement snapshot existed</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r>
              <a:tr h="621792">
                <a:tc>
                  <a:txBody>
                    <a:bodyPr/>
                    <a:lstStyle/>
                    <a:p>
                      <a:pPr indent="0" marL="0">
                        <a:buNone/>
                      </a:pPr>
                      <a:r>
                        <a:rPr lang="en-US" sz="1400" b="1" dirty="0">
                          <a:solidFill>
                            <a:srgbClr val="1F2A24"/>
                          </a:solidFill>
                          <a:latin typeface="Calibri" pitchFamily="34" charset="0"/>
                          <a:ea typeface="Calibri" pitchFamily="34" charset="-122"/>
                          <a:cs typeface="Calibri" pitchFamily="34" charset="-120"/>
                        </a:rPr>
                        <a:t>Unfinished work</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400" dirty="0">
                          <a:solidFill>
                            <a:srgbClr val="1F2A24"/>
                          </a:solidFill>
                          <a:latin typeface="Calibri" pitchFamily="34" charset="0"/>
                          <a:ea typeface="Calibri" pitchFamily="34" charset="-122"/>
                          <a:cs typeface="Calibri" pitchFamily="34" charset="-120"/>
                        </a:rPr>
                        <a:t>Close-out roll call</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c>
                  <a:txBody>
                    <a:bodyPr/>
                    <a:lstStyle/>
                    <a:p>
                      <a:pPr indent="0" marL="0">
                        <a:buNone/>
                      </a:pPr>
                      <a:r>
                        <a:rPr lang="en-US" sz="1400" dirty="0">
                          <a:solidFill>
                            <a:srgbClr val="1F2A24"/>
                          </a:solidFill>
                          <a:latin typeface="Calibri" pitchFamily="34" charset="0"/>
                          <a:ea typeface="Calibri" pitchFamily="34" charset="-122"/>
                          <a:cs typeface="Calibri" pitchFamily="34" charset="-120"/>
                        </a:rPr>
                        <a:t>Stage 4: a stale RUN.md label caught in verification, fixed before the report</a:t>
                      </a:r>
                      <a:endParaRPr lang="en-US" sz="1400" dirty="0">
                        <a:latin typeface="Calibri" charset="0"/>
                        <a:ea typeface="Calibri" charset="0"/>
                        <a:cs typeface="Calibri" charset="0"/>
                      </a:endParaRPr>
                    </a:p>
                  </a:txBody>
                  <a:tcPr marL="109728" marR="109728" marT="36576" marB="36576" anchor="ctr">
                    <a:lnL w="9525" cap="flat" cmpd="sng" algn="ctr">
                      <a:solidFill>
                        <a:srgbClr val="D9DDD6"/>
                      </a:solidFill>
                      <a:prstDash val="solid"/>
                      <a:round/>
                      <a:headEnd type="none" w="med" len="med"/>
                      <a:tailEnd type="none" w="med" len="med"/>
                    </a:lnL>
                    <a:lnR w="9525" cap="flat" cmpd="sng" algn="ctr">
                      <a:solidFill>
                        <a:srgbClr val="D9DDD6"/>
                      </a:solidFill>
                      <a:prstDash val="solid"/>
                      <a:round/>
                      <a:headEnd type="none" w="med" len="med"/>
                      <a:tailEnd type="none" w="med" len="med"/>
                    </a:lnR>
                    <a:lnT w="9525" cap="flat" cmpd="sng" algn="ctr">
                      <a:solidFill>
                        <a:srgbClr val="D9DDD6"/>
                      </a:solidFill>
                      <a:prstDash val="solid"/>
                      <a:round/>
                      <a:headEnd type="none" w="med" len="med"/>
                      <a:tailEnd type="none" w="med" len="med"/>
                    </a:lnT>
                    <a:lnB w="9525" cap="flat" cmpd="sng" algn="ctr">
                      <a:solidFill>
                        <a:srgbClr val="D9DDD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897880"/>
            <a:ext cx="10972800" cy="457200"/>
          </a:xfrm>
          <a:prstGeom prst="rect">
            <a:avLst/>
          </a:prstGeom>
          <a:noFill/>
          <a:ln/>
        </p:spPr>
        <p:txBody>
          <a:bodyPr wrap="square" lIns="0" tIns="0" rIns="0" bIns="0" rtlCol="0" anchor="t"/>
          <a:lstStyle/>
          <a:p>
            <a:pPr indent="0" marL="0">
              <a:buNone/>
            </a:pPr>
            <a:r>
              <a:rPr lang="en-US" sz="1500" b="1" dirty="0">
                <a:solidFill>
                  <a:srgbClr val="1B4332"/>
                </a:solidFill>
                <a:latin typeface="Calibri" pitchFamily="34" charset="0"/>
                <a:ea typeface="Calibri" pitchFamily="34" charset="-122"/>
                <a:cs typeface="Calibri" pitchFamily="34" charset="-120"/>
              </a:rPr>
              <a:t>Close-out gate: no stage report until every seat replies “clear”, no branch is left unmerged and every handoff is answered.</a:t>
            </a:r>
            <a:endParaRPr lang="en-US" sz="15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8E"/>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3200" b="1" dirty="0">
                <a:solidFill>
                  <a:srgbClr val="1B4332"/>
                </a:solidFill>
                <a:latin typeface="Cambria" pitchFamily="34" charset="0"/>
                <a:ea typeface="Cambria" pitchFamily="34" charset="-122"/>
                <a:cs typeface="Cambria" pitchFamily="34" charset="-120"/>
              </a:rPr>
              <a:t>What it cost, and what we won't claim</a:t>
            </a:r>
            <a:endParaRPr lang="en-US" sz="3200" dirty="0"/>
          </a:p>
        </p:txBody>
      </p:sp>
      <p:graphicFrame>
        <p:nvGraphicFramePr>
          <p:cNvPr id="3" name="Chart 0" descr=""/>
          <p:cNvGraphicFramePr/>
          <p:nvPr/>
        </p:nvGraphicFramePr>
        <p:xfrm>
          <a:off x="548640" y="1325880"/>
          <a:ext cx="5852160" cy="4480560"/>
        </p:xfrm>
        <a:graphic xmlns:a="http://schemas.openxmlformats.org/drawingml/2006/main">
          <a:graphicData uri="http://schemas.openxmlformats.org/drawingml/2006/chart">
            <c:chart xmlns:c="http://schemas.openxmlformats.org/drawingml/2006/chart" r:id="rId1"/>
          </a:graphicData>
        </a:graphic>
      </p:graphicFrame>
      <p:sp>
        <p:nvSpPr>
          <p:cNvPr id="4" name="honest card"/>
          <p:cNvSpPr/>
          <p:nvPr/>
        </p:nvSpPr>
        <p:spPr>
          <a:xfrm>
            <a:off x="6675120" y="1325880"/>
            <a:ext cx="4965192"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6949440" y="1463040"/>
            <a:ext cx="4480560" cy="457200"/>
          </a:xfrm>
          <a:prstGeom prst="rect">
            <a:avLst/>
          </a:prstGeom>
          <a:noFill/>
          <a:ln/>
        </p:spPr>
        <p:txBody>
          <a:bodyPr wrap="square" lIns="0" tIns="0" rIns="0" bIns="0" rtlCol="0" anchor="t"/>
          <a:lstStyle/>
          <a:p>
            <a:pPr indent="0" marL="0">
              <a:buNone/>
            </a:pPr>
            <a:r>
              <a:rPr lang="en-US" sz="2200" b="1" dirty="0">
                <a:solidFill>
                  <a:srgbClr val="1B4332"/>
                </a:solidFill>
                <a:latin typeface="Cambria" pitchFamily="34" charset="0"/>
                <a:ea typeface="Cambria" pitchFamily="34" charset="-122"/>
                <a:cs typeface="Cambria" pitchFamily="34" charset="-120"/>
              </a:rPr>
              <a:t>Run 2 spent more, not less</a:t>
            </a:r>
            <a:endParaRPr lang="en-US" sz="2200" dirty="0"/>
          </a:p>
        </p:txBody>
      </p:sp>
      <p:sp>
        <p:nvSpPr>
          <p:cNvPr id="6" name="Text 3"/>
          <p:cNvSpPr txBox="1"/>
          <p:nvPr/>
        </p:nvSpPr>
        <p:spPr>
          <a:xfrm>
            <a:off x="6949440" y="2057400"/>
            <a:ext cx="4434840" cy="36576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24"/>
                </a:solidFill>
                <a:latin typeface="Calibri" pitchFamily="34" charset="0"/>
                <a:ea typeface="Calibri" pitchFamily="34" charset="-122"/>
                <a:cs typeface="Calibri" pitchFamily="34" charset="-120"/>
              </a:rPr>
              <a:t>+28% messages, 25.6 h → 29.8 h, about $10.50 → $25</a:t>
            </a:r>
            <a:endParaRPr lang="en-US" sz="1600" dirty="0"/>
          </a:p>
          <a:p>
            <a:pPr marL="342900" indent="-342900">
              <a:spcAft>
                <a:spcPts val="1000"/>
              </a:spcAft>
              <a:buSzPct val="100000"/>
              <a:buChar char="•"/>
            </a:pPr>
            <a:r>
              <a:rPr lang="en-US" sz="1600" dirty="0">
                <a:solidFill>
                  <a:srgbClr val="1F2A24"/>
                </a:solidFill>
                <a:latin typeface="Calibri" pitchFamily="34" charset="0"/>
                <a:ea typeface="Calibri" pitchFamily="34" charset="-122"/>
                <a:cs typeface="Calibri" pitchFamily="34" charset="-120"/>
              </a:rPr>
              <a:t>It bought verification: 35 screenshots, a visual review per UI batch, a close-out per stage, a full handover per room</a:t>
            </a:r>
            <a:endParaRPr lang="en-US" sz="1600" dirty="0"/>
          </a:p>
          <a:p>
            <a:pPr marL="342900" indent="-342900">
              <a:spcAft>
                <a:spcPts val="1000"/>
              </a:spcAft>
              <a:buSzPct val="100000"/>
              <a:buChar char="•"/>
            </a:pPr>
            <a:r>
              <a:rPr lang="en-US" sz="1600" dirty="0">
                <a:solidFill>
                  <a:srgbClr val="1F2A24"/>
                </a:solidFill>
                <a:latin typeface="Calibri" pitchFamily="34" charset="0"/>
                <a:ea typeface="Calibri" pitchFamily="34" charset="-122"/>
                <a:cs typeface="Calibri" pitchFamily="34" charset="-120"/>
              </a:rPr>
              <a:t>Session limits cost about 30% of wall-clock in both runs; seats resumed on their own within about 25 minutes</a:t>
            </a:r>
            <a:endParaRPr lang="en-US" sz="1600" dirty="0"/>
          </a:p>
          <a:p>
            <a:pPr marL="342900" indent="-342900">
              <a:spcAft>
                <a:spcPts val="1000"/>
              </a:spcAft>
              <a:buSzPct val="100000"/>
              <a:buChar char="•"/>
            </a:pPr>
            <a:r>
              <a:rPr lang="en-US" sz="1600" dirty="0">
                <a:solidFill>
                  <a:srgbClr val="1F2A24"/>
                </a:solidFill>
                <a:latin typeface="Calibri" pitchFamily="34" charset="0"/>
                <a:ea typeface="Calibri" pitchFamily="34" charset="-122"/>
                <a:cs typeface="Calibri" pitchFamily="34" charset="-120"/>
              </a:rPr>
              <a:t>The big saving came earlier: GLM-5.2 to GLM-5.3-Flash, about $8 to $2.60 per stage</a:t>
            </a:r>
            <a:endParaRPr lang="en-US" sz="16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8E"/>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109728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What we'd do next</a:t>
            </a:r>
            <a:endParaRPr lang="en-US" sz="4000" dirty="0"/>
          </a:p>
        </p:txBody>
      </p:sp>
      <p:sp>
        <p:nvSpPr>
          <p:cNvPr id="3" name="next 1"/>
          <p:cNvSpPr/>
          <p:nvPr/>
        </p:nvSpPr>
        <p:spPr>
          <a:xfrm>
            <a:off x="548640" y="1737360"/>
            <a:ext cx="3566160" cy="2743200"/>
          </a:xfrm>
          <a:prstGeom prst="roundRect">
            <a:avLst>
              <a:gd name="adj" fmla="val 4000"/>
            </a:avLst>
          </a:prstGeom>
          <a:solidFill>
            <a:srgbClr val="2D6E50"/>
          </a:solidFill>
          <a:ln w="12700">
            <a:solidFill>
              <a:srgbClr val="2D6E50"/>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822960" y="192024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Cambria" pitchFamily="34" charset="0"/>
                <a:ea typeface="Cambria" pitchFamily="34" charset="-122"/>
                <a:cs typeface="Cambria" pitchFamily="34" charset="-120"/>
              </a:rPr>
              <a:t>Route by task</a:t>
            </a:r>
            <a:endParaRPr lang="en-US" sz="2200" dirty="0"/>
          </a:p>
        </p:txBody>
      </p:sp>
      <p:sp>
        <p:nvSpPr>
          <p:cNvPr id="5" name="Text 3"/>
          <p:cNvSpPr txBox="1"/>
          <p:nvPr/>
        </p:nvSpPr>
        <p:spPr>
          <a:xfrm>
            <a:off x="822960" y="2468880"/>
            <a:ext cx="3017520" cy="19202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Simple tasks keep the cheaper model; complex ones such as UI go to a stronger one, chosen at run time for developer and tester. Expected: higher cost, less time, better quality. Not yet measured.</a:t>
            </a:r>
            <a:endParaRPr lang="en-US" sz="1500" dirty="0"/>
          </a:p>
        </p:txBody>
      </p:sp>
      <p:sp>
        <p:nvSpPr>
          <p:cNvPr id="6" name="next 2"/>
          <p:cNvSpPr/>
          <p:nvPr/>
        </p:nvSpPr>
        <p:spPr>
          <a:xfrm>
            <a:off x="4297680" y="1737360"/>
            <a:ext cx="3566160" cy="2743200"/>
          </a:xfrm>
          <a:prstGeom prst="roundRect">
            <a:avLst>
              <a:gd name="adj" fmla="val 4000"/>
            </a:avLst>
          </a:prstGeom>
          <a:solidFill>
            <a:srgbClr val="2D6E50"/>
          </a:solidFill>
          <a:ln w="12700">
            <a:solidFill>
              <a:srgbClr val="2D6E50"/>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4572000" y="192024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Cambria" pitchFamily="34" charset="0"/>
                <a:ea typeface="Cambria" pitchFamily="34" charset="-122"/>
                <a:cs typeface="Cambria" pitchFamily="34" charset="-120"/>
              </a:rPr>
              <a:t>Fix the stalls</a:t>
            </a:r>
            <a:endParaRPr lang="en-US" sz="2200" dirty="0"/>
          </a:p>
        </p:txBody>
      </p:sp>
      <p:sp>
        <p:nvSpPr>
          <p:cNvPr id="8" name="Text 6"/>
          <p:cNvSpPr txBox="1"/>
          <p:nvPr/>
        </p:nvSpPr>
        <p:spPr>
          <a:xfrm>
            <a:off x="4572000" y="2468880"/>
            <a:ext cx="3017520" cy="19202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A failover model for the Claude seats; a timekeeper that reads the limit's reset time (27 of 42 ticks hit an exhausted coordinator); main merged into a branch right before handoff.</a:t>
            </a:r>
            <a:endParaRPr lang="en-US" sz="1500" dirty="0"/>
          </a:p>
        </p:txBody>
      </p:sp>
      <p:sp>
        <p:nvSpPr>
          <p:cNvPr id="9" name="next 3"/>
          <p:cNvSpPr/>
          <p:nvPr/>
        </p:nvSpPr>
        <p:spPr>
          <a:xfrm>
            <a:off x="8046720" y="1737360"/>
            <a:ext cx="3566160" cy="2743200"/>
          </a:xfrm>
          <a:prstGeom prst="roundRect">
            <a:avLst>
              <a:gd name="adj" fmla="val 4000"/>
            </a:avLst>
          </a:prstGeom>
          <a:solidFill>
            <a:srgbClr val="2D6E50"/>
          </a:solidFill>
          <a:ln w="12700">
            <a:solidFill>
              <a:srgbClr val="2D6E50"/>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8321040" y="192024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Cambria" pitchFamily="34" charset="0"/>
                <a:ea typeface="Cambria" pitchFamily="34" charset="-122"/>
                <a:cs typeface="Cambria" pitchFamily="34" charset="-120"/>
              </a:rPr>
              <a:t>Reusable</a:t>
            </a:r>
            <a:endParaRPr lang="en-US" sz="2200" dirty="0"/>
          </a:p>
        </p:txBody>
      </p:sp>
      <p:sp>
        <p:nvSpPr>
          <p:cNvPr id="11" name="Text 9"/>
          <p:cNvSpPr txBox="1"/>
          <p:nvPr/>
        </p:nvSpPr>
        <p:spPr>
          <a:xfrm>
            <a:off x="8321040" y="2468880"/>
            <a:ext cx="3017520" cy="19202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Mandates name no product, stack or track. Point the factory at a new problem by writing a new dispatch.</a:t>
            </a:r>
            <a:endParaRPr lang="en-US" sz="1500" dirty="0"/>
          </a:p>
        </p:txBody>
      </p:sp>
      <p:sp>
        <p:nvSpPr>
          <p:cNvPr id="12" name="Text 10"/>
          <p:cNvSpPr txBox="1"/>
          <p:nvPr/>
        </p:nvSpPr>
        <p:spPr>
          <a:xfrm>
            <a:off x="548640" y="4892040"/>
            <a:ext cx="10972800" cy="411480"/>
          </a:xfrm>
          <a:prstGeom prst="rect">
            <a:avLst/>
          </a:prstGeom>
          <a:noFill/>
          <a:ln/>
        </p:spPr>
        <p:txBody>
          <a:bodyPr wrap="square" lIns="0" tIns="0" rIns="0" bIns="0" rtlCol="0" anchor="t"/>
          <a:lstStyle/>
          <a:p>
            <a:pPr indent="0" marL="0">
              <a:buNone/>
            </a:pPr>
            <a:r>
              <a:rPr lang="en-US" sz="2000" b="1" dirty="0">
                <a:solidFill>
                  <a:srgbClr val="A8D5BF"/>
                </a:solidFill>
                <a:latin typeface="Calibri" pitchFamily="34" charset="0"/>
                <a:ea typeface="Calibri" pitchFamily="34" charset="-122"/>
                <a:cs typeface="Calibri" pitchFamily="34" charset="-120"/>
              </a:rPr>
              <a:t>github.com/JahnaviSrilekha/payment-app-by-autonomous-agents-hackathon</a:t>
            </a:r>
            <a:endParaRPr lang="en-US" sz="2000" dirty="0"/>
          </a:p>
        </p:txBody>
      </p:sp>
      <p:sp>
        <p:nvSpPr>
          <p:cNvPr id="13" name="Text 11"/>
          <p:cNvSpPr txBox="1"/>
          <p:nvPr/>
        </p:nvSpPr>
        <p:spPr>
          <a:xfrm>
            <a:off x="548640" y="5440680"/>
            <a:ext cx="10972800" cy="36576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Run it: cd stage-4 &amp;&amp; PORT=8080 python3 src/server.py</a:t>
            </a:r>
            <a:endParaRPr lang="en-US" sz="1600" dirty="0"/>
          </a:p>
        </p:txBody>
      </p:sp>
      <p:sp>
        <p:nvSpPr>
          <p:cNvPr id="14" name="Text 12"/>
          <p:cNvSpPr txBox="1"/>
          <p:nvPr/>
        </p:nvSpPr>
        <p:spPr>
          <a:xfrm>
            <a:off x="548640" y="5852160"/>
            <a:ext cx="10972800" cy="365760"/>
          </a:xfrm>
          <a:prstGeom prst="rect">
            <a:avLst/>
          </a:prstGeom>
          <a:noFill/>
          <a:ln/>
        </p:spPr>
        <p:txBody>
          <a:bodyPr wrap="square" lIns="0" tIns="0" rIns="0" bIns="0" rtlCol="0" anchor="t"/>
          <a:lstStyle/>
          <a:p>
            <a:pPr indent="0" marL="0">
              <a:buNone/>
            </a:pPr>
            <a:r>
              <a:rPr lang="en-US" sz="1600" dirty="0">
                <a:solidFill>
                  <a:srgbClr val="A8D5BF"/>
                </a:solidFill>
                <a:latin typeface="Calibri" pitchFamily="34" charset="0"/>
                <a:ea typeface="Calibri" pitchFamily="34" charset="-122"/>
                <a:cs typeface="Calibri" pitchFamily="34" charset="-120"/>
              </a:rPr>
              <a:t>FACTORY.md has every number and message id in this deck.</a:t>
            </a:r>
            <a:endParaRPr lang="en-US" sz="16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5B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Pebble">
  <a:themeElements>
    <a:clrScheme name="Pebble">
      <a:dk1>
        <a:srgbClr val="1F2A24"/>
      </a:dk1>
      <a:lt1>
        <a:srgbClr val="FFFFFF"/>
      </a:lt1>
      <a:dk2>
        <a:srgbClr val="1B4332"/>
      </a:dk2>
      <a:lt2>
        <a:srgbClr val="F3F4F0"/>
      </a:lt2>
      <a:accent1>
        <a:srgbClr val="2D6E50"/>
      </a:accent1>
      <a:accent2>
        <a:srgbClr val="6B4FA0"/>
      </a:accent2>
      <a:accent3>
        <a:srgbClr val="C98A1B"/>
      </a:accent3>
      <a:accent4>
        <a:srgbClr val="B4442F"/>
      </a:accent4>
      <a:accent5>
        <a:srgbClr val="A8D5BF"/>
      </a:accent5>
      <a:accent6>
        <a:srgbClr val="8A948E"/>
      </a:accent6>
      <a:hlink>
        <a:srgbClr val="2D6E50"/>
      </a:hlink>
      <a:folHlink>
        <a:srgbClr val="6B4FA0"/>
      </a:folHlink>
    </a:clrScheme>
    <a:fontScheme name="Pebb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Pebble (pocketful track): coordination, not more agents</dc:title>
  <dc:subject>PptxGenJS Presentation</dc:subject>
  <dc:creator>CoolHackers</dc:creator>
  <cp:lastModifiedBy>CoolHackers</cp:lastModifiedBy>
  <cp:revision>1</cp:revision>
  <dcterms:created xsi:type="dcterms:W3CDTF">2026-10-04T20:49:55Z</dcterms:created>
  <dcterms:modified xsi:type="dcterms:W3CDTF">2026-10-04T20:49:55Z</dcterms:modified>
</cp:coreProperties>
</file>