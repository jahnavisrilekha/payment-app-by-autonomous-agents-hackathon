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3cb1ca55-6dee-36f9-5d81-f8d5a89371b9}">
          <p14:sldIdLst>
            <p14:sldId id="256"/>
            <p14:sldId id="257"/>
            <p14:sldId id="258"/>
          </p14:sldIdLst>
        </p14:section>
        <p14:section name="The factory" id="{017bfc1a-3b69-7d04-476f-dc528713c2df}">
          <p14:sldIdLst>
            <p14:sldId id="259"/>
            <p14:sldId id="260"/>
          </p14:sldIdLst>
        </p14:section>
        <p14:section name="What run 1 taught us" id="{c51dbce6-0feb-0676-f01a-c11e5427e1c2}">
          <p14:sldIdLst>
            <p14:sldId id="261"/>
            <p14:sldId id="262"/>
          </p14:sldIdLst>
        </p14:section>
        <p14:section name="What changed" id="{5bd9a818-7f7c-57fb-1036-416521bb12c5}">
          <p14:sldIdLst>
            <p14:sldId id="263"/>
            <p14:sldId id="264"/>
          </p14:sldIdLst>
        </p14:section>
        <p14:section name="The app" id="{68a13d90-f1d7-ffed-d3c5-3708170b491c}">
          <p14:sldIdLst>
            <p14:sldId id="265"/>
            <p14:sldId id="266"/>
            <p14:sldId id="267"/>
            <p14:sldId id="268"/>
            <p14:sldId id="269"/>
          </p14:sldIdLst>
        </p14:section>
        <p14:section name="Trust and cost" id="{2788963b-e5ba-13b8-53b5-89297bb51066}">
          <p14:sldIdLst>
            <p14:sldId id="270"/>
            <p14:sldId id="271"/>
            <p14:sldId id="272"/>
          </p14:sldIdLst>
        </p14:section>
        <p14:section name="Close" id="{fcf420e7-c9b5-f80b-3b63-13f14960db1c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Pebble: a payments app built in four stages by five agents from one dispatch. Adding agents does not add parallelism. Adding coordination does. This is the second run of the same build; the first run is our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result. Zero human messages after the dispatch, four stages verified, 160 seat commits. Then be honest in the same breath: it cost more than run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stages, each carried forward into the next. Single Python process, nothing to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human sends one dispatch. The coordinator plans and routes. Developer and tester work in parallel. The reviewer is the only seat that merges, fast-forward only. A timekeeper script wakes the coordinator when the room goes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on the two seats where reasoning pays: coordinator and reviewer. A low-cost model on developer and tester, where volume is. The ten-seat rehearsal taught us fewer seats are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failure we found in run 1's room logs, not something we imagined. The rule existed. It was advice, and the agents ignored it under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change is in the wording and the structure. A precondition cannot be skipped; advice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1 to run 2: five human messages to zero, four stacked-batch reports to zero, 75 percent wasted ticks to 2 percent, and every stage closed with a roll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works: five rejections, each fixed and merged within an hour. The honest limit: Claude session windows ate about nine hours, and our coordination design cannot fix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1's UI was functional but plain: nobody looked at it. Now the reviewer commits screenshots in every state at two widths and rejects against the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is deliberately small. No user directory by spec; you pay a person by their exact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app demo. Two private windows: Alice and Bob, plus a fresh sign-up (Ada). Repeating an identical payment does nothing (exactly once); changing the note makes a new payment. Pay, request, split with preview, authorize. Watch the balance change on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clip, then the table. The key is derived from the form fields, so an unchanged form can never double-pay, and a lost response can be retried safely. Changing a field is a different payment by design. The table is from a live run against the stage 4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 the agents, not a person, did the work: handoffs addressed by name, a duplicate handoff recognised and closed, the suite re-run against a fresh clone.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real catch from the room logs. The common thread: a different seat checks, using a different method than the one that produced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plain about cost. Run 2 is more reliable and better evidenced, not cheaper. The big saving came earlier, from a ten-seat rehearsal to a five-seat factory with a low-cost developer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failures without being asked. The timekeeper cannot wake an account that is out of quota; a failover model would fix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repo link and the one-line run command. Judges can clone and run it in under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· pocketful track · WeAreDevelopers × BAND Dark Factory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B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hnaviSrilekha/payment-app-by-autonomous-agents-hackathon/blob/main/media/pebble-app-demo.mp4" TargetMode="External"/><Relationship Id="rId6" Type="http://schemas.openxmlformats.org/officeDocument/2006/relationships/hyperlink" Target="https://github.com/JahnaviSrilekha/payment-app-by-autonomous-agents-hackathon/blob/main/media/pebble-app-demo.mp4" TargetMode="External"/><Relationship Id="rId1" Type="http://schemas.openxmlformats.org/officeDocument/2006/relationships/image" Target="../media/image-12-1.jpg"/><Relationship Id="rId3" Type="http://schemas.openxmlformats.org/officeDocument/2006/relationships/video" Target="../media/media-12-2.mp4"/><Relationship Id="rId4" Type="http://schemas.microsoft.com/office/2007/relationships/media" Target="../media/media-12-2.mp4"/><Relationship Id="rId5" Type="http://schemas.openxmlformats.org/officeDocument/2006/relationships/image" Target="../media/image-12-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hnaviSrilekha/payment-app-by-autonomous-agents-hackathon/blob/main/media/exactly-once-demo.mp4" TargetMode="External"/><Relationship Id="rId6" Type="http://schemas.openxmlformats.org/officeDocument/2006/relationships/hyperlink" Target="https://github.com/JahnaviSrilekha/payment-app-by-autonomous-agents-hackathon/blob/main/media/exactly-once-demo.mp4" TargetMode="External"/><Relationship Id="rId1" Type="http://schemas.openxmlformats.org/officeDocument/2006/relationships/image" Target="../media/image-13-1.jpg"/><Relationship Id="rId3" Type="http://schemas.openxmlformats.org/officeDocument/2006/relationships/video" Target="../media/media-13-2.mp4"/><Relationship Id="rId4" Type="http://schemas.microsoft.com/office/2007/relationships/media" Target="../media/media-13-2.mp4"/><Relationship Id="rId5" Type="http://schemas.openxmlformats.org/officeDocument/2006/relationships/image" Target="../media/image-13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hnaviSrilekha/payment-app-by-autonomous-agents-hackathon/blob/main/media/band-room-handoffs.mp4" TargetMode="External"/><Relationship Id="rId6" Type="http://schemas.openxmlformats.org/officeDocument/2006/relationships/hyperlink" Target="https://github.com/JahnaviSrilekha/payment-app-by-autonomous-agents-hackathon/blob/main/media/band-room-handoffs.mp4" TargetMode="External"/><Relationship Id="rId1" Type="http://schemas.openxmlformats.org/officeDocument/2006/relationships/image" Target="../media/image-14-1.jpg"/><Relationship Id="rId3" Type="http://schemas.openxmlformats.org/officeDocument/2006/relationships/video" Target="../media/media-14-2.mp4"/><Relationship Id="rId4" Type="http://schemas.microsoft.com/office/2007/relationships/media" Target="../media/media-14-2.mp4"/><Relationship Id="rId5" Type="http://schemas.openxmlformats.org/officeDocument/2006/relationships/image" Target="../media/image-14-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 built and verified from one dispatch</a:t>
            </a:r>
            <a:endParaRPr lang="en-US" sz="3200" dirty="0"/>
          </a:p>
        </p:txBody>
      </p:sp>
      <p:sp>
        <p:nvSpPr>
          <p:cNvPr id="3" name="stat card human messages after the dispatch (run 1: 5)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4" name="stat human messages after the dispatch (run 1: 5)"/>
          <p:cNvSpPr txBox="1"/>
          <p:nvPr/>
        </p:nvSpPr>
        <p:spPr>
          <a:xfrm>
            <a:off x="777240" y="1581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stat label human messages after the dispatch (run 1: 5)"/>
          <p:cNvSpPr txBox="1"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messages after the dispatch (run 1: 5)</a:t>
            </a:r>
            <a:endParaRPr lang="en-US" sz="1400" dirty="0"/>
          </a:p>
        </p:txBody>
      </p:sp>
      <p:sp>
        <p:nvSpPr>
          <p:cNvPr id="6" name="stat card stages built, verified and merged"/>
          <p:cNvSpPr/>
          <p:nvPr/>
        </p:nvSpPr>
        <p:spPr>
          <a:xfrm>
            <a:off x="429768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7" name="stat stages built, verified and merged"/>
          <p:cNvSpPr txBox="1"/>
          <p:nvPr/>
        </p:nvSpPr>
        <p:spPr>
          <a:xfrm>
            <a:off x="4526280" y="1581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4000" dirty="0"/>
          </a:p>
        </p:txBody>
      </p:sp>
      <p:sp>
        <p:nvSpPr>
          <p:cNvPr id="8" name="stat label stages built, verified and merged"/>
          <p:cNvSpPr txBox="1"/>
          <p:nvPr/>
        </p:nvSpPr>
        <p:spPr>
          <a:xfrm>
            <a:off x="45262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built, verified and merged</a:t>
            </a:r>
            <a:endParaRPr lang="en-US" sz="1400" dirty="0"/>
          </a:p>
        </p:txBody>
      </p:sp>
      <p:sp>
        <p:nvSpPr>
          <p:cNvPr id="9" name="stat card commits, every one by a seat"/>
          <p:cNvSpPr/>
          <p:nvPr/>
        </p:nvSpPr>
        <p:spPr>
          <a:xfrm>
            <a:off x="804672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0" name="stat commits, every one by a seat"/>
          <p:cNvSpPr txBox="1"/>
          <p:nvPr/>
        </p:nvSpPr>
        <p:spPr>
          <a:xfrm>
            <a:off x="8275320" y="1581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4000" dirty="0"/>
          </a:p>
        </p:txBody>
      </p:sp>
      <p:sp>
        <p:nvSpPr>
          <p:cNvPr id="11" name="stat label commits, every one by a seat"/>
          <p:cNvSpPr txBox="1"/>
          <p:nvPr/>
        </p:nvSpPr>
        <p:spPr>
          <a:xfrm>
            <a:off x="82753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every one by a seat</a:t>
            </a:r>
            <a:endParaRPr lang="en-US" sz="1400" dirty="0"/>
          </a:p>
        </p:txBody>
      </p:sp>
      <p:sp>
        <p:nvSpPr>
          <p:cNvPr id="12" name="stat card stage 4 acceptance: passed / failed / skipped"/>
          <p:cNvSpPr/>
          <p:nvPr/>
        </p:nvSpPr>
        <p:spPr>
          <a:xfrm>
            <a:off x="548640" y="3063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3" name="stat stage 4 acceptance: passed / failed / skipped"/>
          <p:cNvSpPr txBox="1"/>
          <p:nvPr/>
        </p:nvSpPr>
        <p:spPr>
          <a:xfrm>
            <a:off x="777240" y="3227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0 / 1</a:t>
            </a:r>
            <a:endParaRPr lang="en-US" sz="4000" dirty="0"/>
          </a:p>
        </p:txBody>
      </p:sp>
      <p:sp>
        <p:nvSpPr>
          <p:cNvPr id="14" name="stat label stage 4 acceptance: passed / failed / skipped"/>
          <p:cNvSpPr txBox="1"/>
          <p:nvPr/>
        </p:nvSpPr>
        <p:spPr>
          <a:xfrm>
            <a:off x="77724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acceptance: passed / failed / skipped</a:t>
            </a:r>
            <a:endParaRPr lang="en-US" sz="1400" dirty="0"/>
          </a:p>
        </p:txBody>
      </p:sp>
      <p:sp>
        <p:nvSpPr>
          <p:cNvPr id="15" name="stat card unit tests passing in stage 4"/>
          <p:cNvSpPr/>
          <p:nvPr/>
        </p:nvSpPr>
        <p:spPr>
          <a:xfrm>
            <a:off x="4297680" y="3063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6" name="stat unit tests passing in stage 4"/>
          <p:cNvSpPr txBox="1"/>
          <p:nvPr/>
        </p:nvSpPr>
        <p:spPr>
          <a:xfrm>
            <a:off x="4526280" y="3227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425</a:t>
            </a:r>
            <a:endParaRPr lang="en-US" sz="4000" dirty="0"/>
          </a:p>
        </p:txBody>
      </p:sp>
      <p:sp>
        <p:nvSpPr>
          <p:cNvPr id="17" name="stat label unit tests passing in stage 4"/>
          <p:cNvSpPr txBox="1"/>
          <p:nvPr/>
        </p:nvSpPr>
        <p:spPr>
          <a:xfrm>
            <a:off x="452628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 in stage 4</a:t>
            </a:r>
            <a:endParaRPr lang="en-US" sz="1400" dirty="0"/>
          </a:p>
        </p:txBody>
      </p:sp>
      <p:sp>
        <p:nvSpPr>
          <p:cNvPr id="18" name="stat card UI screenshots at 375 px and 1280 px"/>
          <p:cNvSpPr/>
          <p:nvPr/>
        </p:nvSpPr>
        <p:spPr>
          <a:xfrm>
            <a:off x="8046720" y="3063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9" name="stat UI screenshots at 375 px and 1280 px"/>
          <p:cNvSpPr txBox="1"/>
          <p:nvPr/>
        </p:nvSpPr>
        <p:spPr>
          <a:xfrm>
            <a:off x="8275320" y="3227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000" dirty="0"/>
          </a:p>
        </p:txBody>
      </p:sp>
      <p:sp>
        <p:nvSpPr>
          <p:cNvPr id="20" name="stat label UI screenshots at 375 px and 1280 px"/>
          <p:cNvSpPr txBox="1"/>
          <p:nvPr/>
        </p:nvSpPr>
        <p:spPr>
          <a:xfrm>
            <a:off x="827532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screenshots at 375 px and 1280 px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29.8 h</a:t>
            </a:r>
            <a:pPr indent="0" marL="0">
              <a:buNone/>
            </a:pPr>
            <a:r>
              <a:rPr lang="en-US" sz="16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(about 9 h of it waiting on Claude session limits).  </a:t>
            </a:r>
            <a:pPr indent="0" marL="0">
              <a:buNone/>
            </a:pPr>
            <a:r>
              <a:rPr lang="en-US" sz="16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pPr indent="0" marL="0">
              <a:buNone/>
            </a:pPr>
            <a:r>
              <a:rPr lang="en-US" sz="16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Featherless about $25; Claude seats used about 49% of one Pro plan's weekly limit, plus a little paid extra at the end.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of the same build. It is more reliable and better evidenced than run 1, and not cheaper or faster. The next slides show both sides.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Pebble: a shared-pot payments app, one stone at a time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548640" y="14630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4" name="stage badge 1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C058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API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pay, request, split, operator settlements. Idempotent writes, atomic debit and credit.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checks</a:t>
            </a:r>
            <a:endParaRPr lang="en-US" sz="1300" dirty="0"/>
          </a:p>
        </p:txBody>
      </p:sp>
      <p:sp>
        <p:nvSpPr>
          <p:cNvPr id="9" name="stage card 2"/>
          <p:cNvSpPr/>
          <p:nvPr/>
        </p:nvSpPr>
        <p:spPr>
          <a:xfrm>
            <a:off x="3383280" y="14630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0" name="stage badge 2"/>
          <p:cNvSpPr/>
          <p:nvPr/>
        </p:nvSpPr>
        <p:spPr>
          <a:xfrm>
            <a:off x="3611880" y="1691640"/>
            <a:ext cx="548640" cy="548640"/>
          </a:xfrm>
          <a:prstGeom prst="ellipse">
            <a:avLst/>
          </a:prstGeom>
          <a:solidFill>
            <a:srgbClr val="5F6A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UI and holds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requests, split and authorizations screens at phone and desktop width. Held versus available money.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screenshots</a:t>
            </a:r>
            <a:endParaRPr lang="en-US" sz="1300" dirty="0"/>
          </a:p>
        </p:txBody>
      </p:sp>
      <p:sp>
        <p:nvSpPr>
          <p:cNvPr id="15" name="stage card 3"/>
          <p:cNvSpPr/>
          <p:nvPr/>
        </p:nvSpPr>
        <p:spPr>
          <a:xfrm>
            <a:off x="6217920" y="14630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6" name="stage badge 3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rgbClr val="C058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Statements and corrections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statements with opening and closing, plus corrections that keep history intact.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acceptance</a:t>
            </a:r>
            <a:endParaRPr lang="en-US" sz="1300" dirty="0"/>
          </a:p>
        </p:txBody>
      </p:sp>
      <p:sp>
        <p:nvSpPr>
          <p:cNvPr id="21" name="stage card 4"/>
          <p:cNvSpPr/>
          <p:nvPr/>
        </p:nvSpPr>
        <p:spPr>
          <a:xfrm>
            <a:off x="9052560" y="14630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22" name="stage badge 4"/>
          <p:cNvSpPr/>
          <p:nvPr/>
        </p:nvSpPr>
        <p:spPr>
          <a:xfrm>
            <a:off x="9281160" y="1691640"/>
            <a:ext cx="548640" cy="548640"/>
          </a:xfrm>
          <a:prstGeom prst="ellipse">
            <a:avLst/>
          </a:prstGeom>
          <a:solidFill>
            <a:srgbClr val="5F6A7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81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Refunds and batches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batch corrections, optimistic revisions, format-4 export and import.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acceptance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folder carries the previous one forward and ships a Dockerfile and RUN.md. The service is one Python process, standard library only.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factory works: one dispatch, five seats</a:t>
            </a:r>
            <a:endParaRPr lang="en-US" sz="3200" dirty="0"/>
          </a:p>
        </p:txBody>
      </p:sp>
      <p:sp>
        <p:nvSpPr>
          <p:cNvPr id="3" name="node Human"/>
          <p:cNvSpPr/>
          <p:nvPr/>
        </p:nvSpPr>
        <p:spPr>
          <a:xfrm>
            <a:off x="548640" y="27432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E4DFD3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186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dispatch for all four stages</a:t>
            </a:r>
            <a:endParaRPr lang="en-US" sz="1200" dirty="0"/>
          </a:p>
        </p:txBody>
      </p:sp>
      <p:sp>
        <p:nvSpPr>
          <p:cNvPr id="6" name="node Coordinator"/>
          <p:cNvSpPr/>
          <p:nvPr/>
        </p:nvSpPr>
        <p:spPr>
          <a:xfrm>
            <a:off x="2926080" y="274320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2B2A27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2186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design, dependency graph, close-out</a:t>
            </a:r>
            <a:endParaRPr lang="en-US" sz="1200" dirty="0"/>
          </a:p>
        </p:txBody>
      </p:sp>
      <p:sp>
        <p:nvSpPr>
          <p:cNvPr id="9" name="node Developer"/>
          <p:cNvSpPr/>
          <p:nvPr/>
        </p:nvSpPr>
        <p:spPr>
          <a:xfrm>
            <a:off x="5943600" y="150876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unit tests, one branch per batch</a:t>
            </a:r>
            <a:endParaRPr lang="en-US" sz="1200" dirty="0"/>
          </a:p>
        </p:txBody>
      </p:sp>
      <p:sp>
        <p:nvSpPr>
          <p:cNvPr id="12" name="node Tester"/>
          <p:cNvSpPr/>
          <p:nvPr/>
        </p:nvSpPr>
        <p:spPr>
          <a:xfrm>
            <a:off x="5943600" y="27432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218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review, black-box acceptance suite</a:t>
            </a:r>
            <a:endParaRPr lang="en-US" sz="1200" dirty="0"/>
          </a:p>
        </p:txBody>
      </p:sp>
      <p:sp>
        <p:nvSpPr>
          <p:cNvPr id="15" name="node Reviewer"/>
          <p:cNvSpPr/>
          <p:nvPr/>
        </p:nvSpPr>
        <p:spPr>
          <a:xfrm>
            <a:off x="5943600" y="39776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4531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clean-copy review, screenshots, probes</a:t>
            </a:r>
            <a:endParaRPr lang="en-US" sz="1200" dirty="0"/>
          </a:p>
        </p:txBody>
      </p:sp>
      <p:sp>
        <p:nvSpPr>
          <p:cNvPr id="18" name="node main"/>
          <p:cNvSpPr/>
          <p:nvPr/>
        </p:nvSpPr>
        <p:spPr>
          <a:xfrm>
            <a:off x="914400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C0583C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218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merges only, by the reviewer only</a:t>
            </a:r>
            <a:endParaRPr lang="en-US" sz="1200" dirty="0"/>
          </a:p>
        </p:txBody>
      </p:sp>
      <p:sp>
        <p:nvSpPr>
          <p:cNvPr id="21" name="arrow human to coordinator"/>
          <p:cNvSpPr/>
          <p:nvPr/>
        </p:nvSpPr>
        <p:spPr>
          <a:xfrm>
            <a:off x="2286000" y="3291840"/>
            <a:ext cx="640080" cy="0"/>
          </a:xfrm>
          <a:prstGeom prst="line">
            <a:avLst/>
          </a:prstGeom>
          <a:noFill/>
          <a:ln w="22225">
            <a:solidFill>
              <a:srgbClr val="5F6A73"/>
            </a:solidFill>
            <a:prstDash val="solid"/>
            <a:tailEnd type="triangle"/>
          </a:ln>
        </p:spPr>
      </p:sp>
      <p:sp>
        <p:nvSpPr>
          <p:cNvPr id="22" name="arrow coordinator to developer"/>
          <p:cNvSpPr/>
          <p:nvPr/>
        </p:nvSpPr>
        <p:spPr>
          <a:xfrm flipV="1">
            <a:off x="5120640" y="2194560"/>
            <a:ext cx="822960" cy="868680"/>
          </a:xfrm>
          <a:prstGeom prst="line">
            <a:avLst/>
          </a:prstGeom>
          <a:noFill/>
          <a:ln w="22225">
            <a:solidFill>
              <a:srgbClr val="5F6A73"/>
            </a:solidFill>
            <a:prstDash val="solid"/>
            <a:tailEnd type="triangle"/>
          </a:ln>
        </p:spPr>
      </p:sp>
      <p:sp>
        <p:nvSpPr>
          <p:cNvPr id="23" name="arrow coordinator to tester"/>
          <p:cNvSpPr/>
          <p:nvPr/>
        </p:nvSpPr>
        <p:spPr>
          <a:xfrm>
            <a:off x="5120640" y="3291840"/>
            <a:ext cx="822960" cy="0"/>
          </a:xfrm>
          <a:prstGeom prst="line">
            <a:avLst/>
          </a:prstGeom>
          <a:noFill/>
          <a:ln w="22225">
            <a:solidFill>
              <a:srgbClr val="5F6A73"/>
            </a:solidFill>
            <a:prstDash val="solid"/>
            <a:tailEnd type="triangle"/>
          </a:ln>
        </p:spPr>
      </p:sp>
      <p:sp>
        <p:nvSpPr>
          <p:cNvPr id="24" name="arrow coordinator to reviewer"/>
          <p:cNvSpPr/>
          <p:nvPr/>
        </p:nvSpPr>
        <p:spPr>
          <a:xfrm>
            <a:off x="5120640" y="3520440"/>
            <a:ext cx="822960" cy="960120"/>
          </a:xfrm>
          <a:prstGeom prst="line">
            <a:avLst/>
          </a:prstGeom>
          <a:noFill/>
          <a:ln w="22225">
            <a:solidFill>
              <a:srgbClr val="5F6A73"/>
            </a:solidFill>
            <a:prstDash val="solid"/>
            <a:tailEnd type="triangle"/>
          </a:ln>
        </p:spPr>
      </p:sp>
      <p:sp>
        <p:nvSpPr>
          <p:cNvPr id="25" name="arrow developer to main"/>
          <p:cNvSpPr/>
          <p:nvPr/>
        </p:nvSpPr>
        <p:spPr>
          <a:xfrm>
            <a:off x="8321040" y="2194560"/>
            <a:ext cx="822960" cy="731520"/>
          </a:xfrm>
          <a:prstGeom prst="line">
            <a:avLst/>
          </a:prstGeom>
          <a:noFill/>
          <a:ln w="22225">
            <a:solidFill>
              <a:srgbClr val="5F6A73"/>
            </a:solidFill>
            <a:prstDash val="solid"/>
            <a:tailEnd type="triangle"/>
          </a:ln>
        </p:spPr>
      </p:sp>
      <p:sp>
        <p:nvSpPr>
          <p:cNvPr id="26" name="arrow tester to main"/>
          <p:cNvSpPr/>
          <p:nvPr/>
        </p:nvSpPr>
        <p:spPr>
          <a:xfrm>
            <a:off x="8321040" y="3291840"/>
            <a:ext cx="822960" cy="0"/>
          </a:xfrm>
          <a:prstGeom prst="line">
            <a:avLst/>
          </a:prstGeom>
          <a:noFill/>
          <a:ln w="22225">
            <a:solidFill>
              <a:srgbClr val="5F6A73"/>
            </a:solidFill>
            <a:prstDash val="solid"/>
            <a:tailEnd type="triangle"/>
          </a:ln>
        </p:spPr>
      </p:sp>
      <p:sp>
        <p:nvSpPr>
          <p:cNvPr id="27" name="arrow reviewer to main"/>
          <p:cNvSpPr/>
          <p:nvPr/>
        </p:nvSpPr>
        <p:spPr>
          <a:xfrm flipV="1">
            <a:off x="8321040" y="3611880"/>
            <a:ext cx="822960" cy="914400"/>
          </a:xfrm>
          <a:prstGeom prst="line">
            <a:avLst/>
          </a:prstGeom>
          <a:noFill/>
          <a:ln w="22225">
            <a:solidFill>
              <a:srgbClr val="5F6A73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54406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Timekeeper: a script with no model. It wakes the coordinator only when the room has gone quiet.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440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per stage. At each stage end the coordinator writes handover.md and the timekeeper wakes it in the next room.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are routed by reasoning load</a:t>
            </a:r>
            <a:endParaRPr lang="en-US" sz="3200" dirty="0"/>
          </a:p>
        </p:txBody>
      </p:sp>
      <p:sp>
        <p:nvSpPr>
          <p:cNvPr id="3" name="seat card coordinator"/>
          <p:cNvSpPr/>
          <p:nvPr/>
        </p:nvSpPr>
        <p:spPr>
          <a:xfrm>
            <a:off x="548640" y="14630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4" name="seat badge coordinator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2B2A27"/>
          </a:solidFill>
          <a:ln w="19050">
            <a:solidFill>
              <a:srgbClr val="2B2A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corner cases, dependency graph, close-out. A weak plan costs the most downstream.</a:t>
            </a:r>
            <a:endParaRPr lang="en-US" sz="1300" dirty="0"/>
          </a:p>
        </p:txBody>
      </p:sp>
      <p:sp>
        <p:nvSpPr>
          <p:cNvPr id="9" name="seat card developer"/>
          <p:cNvSpPr/>
          <p:nvPr/>
        </p:nvSpPr>
        <p:spPr>
          <a:xfrm>
            <a:off x="2788920" y="14630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0" name="seat badge developer"/>
          <p:cNvSpPr/>
          <p:nvPr/>
        </p:nvSpPr>
        <p:spPr>
          <a:xfrm>
            <a:off x="2971800" y="1691640"/>
            <a:ext cx="640080" cy="64008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2B2A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GLM-5.3-Flash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code and unit tests on a low-cost model.</a:t>
            </a:r>
            <a:endParaRPr lang="en-US" sz="1300" dirty="0"/>
          </a:p>
        </p:txBody>
      </p:sp>
      <p:sp>
        <p:nvSpPr>
          <p:cNvPr id="15" name="seat card tester"/>
          <p:cNvSpPr/>
          <p:nvPr/>
        </p:nvSpPr>
        <p:spPr>
          <a:xfrm>
            <a:off x="5029200" y="14630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6" name="seat badge tester"/>
          <p:cNvSpPr/>
          <p:nvPr/>
        </p:nvSpPr>
        <p:spPr>
          <a:xfrm>
            <a:off x="5212080" y="1691640"/>
            <a:ext cx="640080" cy="640080"/>
          </a:xfrm>
          <a:prstGeom prst="ellipse">
            <a:avLst/>
          </a:prstGeom>
          <a:solidFill>
            <a:srgbClr val="2B2A27"/>
          </a:solidFill>
          <a:ln w="19050">
            <a:solidFill>
              <a:srgbClr val="2B2A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GLM-5.3-Flash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review of the spec and the black-box acceptance suite.</a:t>
            </a:r>
            <a:endParaRPr lang="en-US" sz="1300" dirty="0"/>
          </a:p>
        </p:txBody>
      </p:sp>
      <p:sp>
        <p:nvSpPr>
          <p:cNvPr id="21" name="seat card reviewer"/>
          <p:cNvSpPr/>
          <p:nvPr/>
        </p:nvSpPr>
        <p:spPr>
          <a:xfrm>
            <a:off x="7269480" y="14630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22" name="seat badge reviewer"/>
          <p:cNvSpPr/>
          <p:nvPr/>
        </p:nvSpPr>
        <p:spPr>
          <a:xfrm>
            <a:off x="7452360" y="1691640"/>
            <a:ext cx="640080" cy="64008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2B2A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Clean-copy review, stress probes, screenshots. The only merger.</a:t>
            </a:r>
            <a:endParaRPr lang="en-US" sz="1300" dirty="0"/>
          </a:p>
        </p:txBody>
      </p:sp>
      <p:sp>
        <p:nvSpPr>
          <p:cNvPr id="27" name="seat card timekeeper"/>
          <p:cNvSpPr/>
          <p:nvPr/>
        </p:nvSpPr>
        <p:spPr>
          <a:xfrm>
            <a:off x="9509760" y="146304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28" name="seat badge timekeeper"/>
          <p:cNvSpPr/>
          <p:nvPr/>
        </p:nvSpPr>
        <p:spPr>
          <a:xfrm>
            <a:off x="9692640" y="1691640"/>
            <a:ext cx="640080" cy="640080"/>
          </a:xfrm>
          <a:prstGeom prst="ellipse">
            <a:avLst/>
          </a:prstGeom>
          <a:solidFill>
            <a:srgbClr val="2B2A27"/>
          </a:solidFill>
          <a:ln w="19050">
            <a:solidFill>
              <a:srgbClr val="2B2A2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92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timekeeper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script, no model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quiet rooms. Speaks only when something may be stuck.</a:t>
            </a:r>
            <a:endParaRPr lang="en-US" sz="1300" dirty="0"/>
          </a:p>
        </p:txBody>
      </p:sp>
      <p:sp>
        <p:nvSpPr>
          <p:cNvPr id="33" name="routing callout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B2A27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stone for every layer. </a:t>
            </a:r>
            <a:pPr indent="0" marL="0">
              <a:buNone/>
            </a:pPr>
            <a:r>
              <a:rPr lang="en-US" sz="16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where it pays, volume where it is cheap. A ten-seat toy rehearsal cost $12.40 for about 1.5 stages and was cut to five seats.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1: a rejection that did not stop the line</a:t>
            </a:r>
            <a:endParaRPr lang="en-US" sz="3200" dirty="0"/>
          </a:p>
        </p:txBody>
      </p:sp>
      <p:sp>
        <p:nvSpPr>
          <p:cNvPr id="3" name="timeline card 19:50"/>
          <p:cNvSpPr/>
          <p:nvPr/>
        </p:nvSpPr>
        <p:spPr>
          <a:xfrm>
            <a:off x="548640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19:50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 rejected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defects, reproduced with an independent probe.</a:t>
            </a:r>
            <a:endParaRPr lang="en-US" sz="1300" dirty="0"/>
          </a:p>
        </p:txBody>
      </p:sp>
      <p:sp>
        <p:nvSpPr>
          <p:cNvPr id="7" name="timeline card 20:04"/>
          <p:cNvSpPr/>
          <p:nvPr/>
        </p:nvSpPr>
        <p:spPr>
          <a:xfrm>
            <a:off x="3383280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20:04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 is blocked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on batch 2's tip: “I can't fast-forward without pulling in the unfixed defects.”</a:t>
            </a:r>
            <a:endParaRPr lang="en-US" sz="1300" dirty="0"/>
          </a:p>
        </p:txBody>
      </p:sp>
      <p:sp>
        <p:nvSpPr>
          <p:cNvPr id="11" name="timeline card 22:32"/>
          <p:cNvSpPr/>
          <p:nvPr/>
        </p:nvSpPr>
        <p:spPr>
          <a:xfrm>
            <a:off x="6217920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22:32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4: “still blocked”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26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“…as batches 3 and 4 asked if the pipeline was stalled.”</a:t>
            </a:r>
            <a:endParaRPr lang="en-US" sz="1300" dirty="0"/>
          </a:p>
        </p:txBody>
      </p:sp>
      <p:sp>
        <p:nvSpPr>
          <p:cNvPr id="15" name="timeline card 22:57"/>
          <p:cNvSpPr/>
          <p:nvPr/>
        </p:nvSpPr>
        <p:spPr>
          <a:xfrm>
            <a:off x="9052560" y="14630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22:57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5: “same blocker”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926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batches stacked on one unfixed tip.</a:t>
            </a:r>
            <a:endParaRPr lang="en-US" sz="1300" dirty="0"/>
          </a:p>
        </p:txBody>
      </p:sp>
      <p:sp>
        <p:nvSpPr>
          <p:cNvPr id="19" name="run1 callout"/>
          <p:cNvSpPr/>
          <p:nvPr/>
        </p:nvSpPr>
        <p:spPr>
          <a:xfrm>
            <a:off x="548640" y="45262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B2A27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already said “A rejection takes priority over everything.”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9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not enough. The fix was verified at 23:21, 3 h 31 min later, and was still not mergeable because the branch had gone stale.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precondition holds. A priority rule doesn't</a:t>
            </a:r>
            <a:endParaRPr lang="en-US" sz="3200" dirty="0"/>
          </a:p>
        </p:txBody>
      </p:sp>
      <p:sp>
        <p:nvSpPr>
          <p:cNvPr id="3" name="quote card 1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4" name="quote number 1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C058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a batch only when every batch in its ‘builds on’ line is merged into main.”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6459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becomes a dependency graph. A batch on top of a rejected batch is simply not ready.</a:t>
            </a:r>
            <a:endParaRPr lang="en-US" sz="1400" dirty="0"/>
          </a:p>
        </p:txBody>
      </p:sp>
      <p:sp>
        <p:nvSpPr>
          <p:cNvPr id="9" name="quote card 2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0" name="quote number 2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C058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182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474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branch per review batch… created from the latest main revision.”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2004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like developer-s2-b3 replace one shared branch that went stale for everyone.</a:t>
            </a:r>
            <a:endParaRPr lang="en-US" sz="1400" dirty="0"/>
          </a:p>
        </p:txBody>
      </p:sp>
      <p:sp>
        <p:nvSpPr>
          <p:cNvPr id="15" name="quote card 3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6" name="quote number 3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C058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coordinator.md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029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“Arrange the batches so that at least two can start in parallel.”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7548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and 3 record why batches 1 and 2, or 3 and 4, could not.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room logs show, run 1 vs run 2</a:t>
            </a:r>
            <a:endParaRPr lang="en-US" sz="3200" dirty="0"/>
          </a:p>
        </p:txBody>
      </p:sp>
      <p:pic>
        <p:nvPicPr>
          <p:cNvPr id="3" name="scorecard run1 vs run2" descr="Run 1 versus run 2 score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400800" cy="3200400"/>
          </a:xfrm>
          <a:prstGeom prst="rect">
            <a:avLst/>
          </a:prstGeom>
        </p:spPr>
      </p:pic>
      <p:pic>
        <p:nvPicPr>
          <p:cNvPr id="4" name="chart wasted ticks" descr="Ticks that woke an agent in a healthy room: run 1 75 percent, run 2 2 perc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480560" cy="24597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22376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timekeeper that speaks only when the room is quiet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7223760" y="5120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sent a fixed 15-minute tick: 49 of 65 landed while a seat had posted in the last 10 minutes.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846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come from the exported room logs; method notes are in FACTORY.md.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Rejections now get fixed in minutes. Limits still cost hours</a:t>
            </a:r>
            <a:endParaRPr lang="en-US" sz="3200" dirty="0"/>
          </a:p>
        </p:txBody>
      </p:sp>
      <p:pic>
        <p:nvPicPr>
          <p:cNvPr id="3" name="chart rejection to merge" descr="Run 2 rejection to fix merged, in minutes: 7, 14, 15, 15, 58. Run 1: 3 h 31 m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3054096"/>
          </a:xfrm>
          <a:prstGeom prst="rect">
            <a:avLst/>
          </a:prstGeom>
        </p:spPr>
      </p:pic>
      <p:pic>
        <p:nvPicPr>
          <p:cNvPr id="4" name="chart session limits" descr="Hours lost to Claude session limits per stage in run 2, 9.4 h in to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458968" cy="30540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166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1's single rejection took 3 h 31 min and was still not mergeable. Run 2's five took 7 to 58 minutes.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5166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session-limit windows in both runs, about 30% of the clock. Our process did not reduce this. Only a failover model for the Claude seats would.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quality became evidence, not opinion</a:t>
            </a:r>
            <a:endParaRPr lang="en-US" sz="3200" dirty="0"/>
          </a:p>
        </p:txBody>
      </p:sp>
      <p:pic>
        <p:nvPicPr>
          <p:cNvPr id="3" name="desktop wallet screenshot" descr="Pebble wallet at desktop widt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852160" cy="3749040"/>
          </a:xfrm>
          <a:prstGeom prst="rect">
            <a:avLst/>
          </a:prstGeom>
        </p:spPr>
      </p:pic>
      <p:pic>
        <p:nvPicPr>
          <p:cNvPr id="4" name="phone uncertain payment screenshot" descr="Pebble at phone width showing an uncertain paymen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9400" y="1371600"/>
            <a:ext cx="1737360" cy="3749040"/>
          </a:xfrm>
          <a:prstGeom prst="rect">
            <a:avLst/>
          </a:prstGeom>
        </p:spPr>
      </p:pic>
      <p:pic>
        <p:nvPicPr>
          <p:cNvPr id="5" name="phone authorizations screenshot" descr="Pebble authorizations at phone widt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49640" y="1371600"/>
            <a:ext cx="1737360" cy="37490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515600" y="1371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5200" dirty="0"/>
          </a:p>
        </p:txBody>
      </p:sp>
      <p:sp>
        <p:nvSpPr>
          <p:cNvPr id="7" name="Text 2"/>
          <p:cNvSpPr txBox="1"/>
          <p:nvPr/>
        </p:nvSpPr>
        <p:spPr>
          <a:xfrm>
            <a:off x="1051560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10515600" y="25603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by the reviewer in every state, at 375 px and 1280 px.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must look at the screens, reject only against a stated requirement or the visual system, and cite the screenshot. One authorizations defect was rejected and fixed this way.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Pay, request, split and hold, on one shared pot</a:t>
            </a:r>
            <a:endParaRPr lang="en-US" sz="3200" dirty="0"/>
          </a:p>
        </p:txBody>
      </p:sp>
      <p:pic>
        <p:nvPicPr>
          <p:cNvPr id="3" name="screenshot Requests" descr="Pebble Requests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3566160" cy="23957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89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and outgoing, with pay, decline and cancel gated by state.</a:t>
            </a:r>
            <a:endParaRPr lang="en-US" sz="1400" dirty="0"/>
          </a:p>
        </p:txBody>
      </p:sp>
      <p:pic>
        <p:nvPicPr>
          <p:cNvPr id="6" name="screenshot Split a bill" descr="Pebble Split a bill scree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371600"/>
            <a:ext cx="3566160" cy="23957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9768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a bill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297680" y="4389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preview of every share. The first handles get the extra unit.</a:t>
            </a:r>
            <a:endParaRPr lang="en-US" sz="1400" dirty="0"/>
          </a:p>
        </p:txBody>
      </p:sp>
      <p:pic>
        <p:nvPicPr>
          <p:cNvPr id="9" name="screenshot Holds" descr="Pebble Holds scree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371600"/>
            <a:ext cx="3566160" cy="23957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4672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8046720" y="4389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funds now, capture later. Held money leaves available, not total.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are the only way to find a person: directory and user search are out of scope in the spec (R102).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Pebble running: pay, request, split and hold</a:t>
            </a:r>
            <a:endParaRPr lang="en-US" sz="3200" dirty="0"/>
          </a:p>
        </p:txBody>
      </p:sp>
      <p:pic>
        <p:nvPicPr>
          <p:cNvPr id="3" name="video still" descr="Still frame of the video">
            <a:hlinkClick r:id="rId2" tooltip="Play the video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371600"/>
            <a:ext cx="8686800" cy="489204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7360" y="1371600"/>
            <a:ext cx="8686800" cy="4892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73736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D9A8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Watch the video (opens GitHub): media/pebble-app-demo.mp4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737360" y="62636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recording, 5 min 10 s, two private windows. File: media/pebble-app-demo.mp4 in the repository.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B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once: the same money is never created twice</a:t>
            </a:r>
            <a:endParaRPr lang="en-US" sz="3200" dirty="0"/>
          </a:p>
        </p:txBody>
      </p:sp>
      <p:pic>
        <p:nvPicPr>
          <p:cNvPr id="3" name="video still" descr="Still frame of the video">
            <a:hlinkClick r:id="rId2" tooltip="Play the video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400800" cy="3419856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417320"/>
            <a:ext cx="6400800" cy="341985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Watch the video (opens GitHub): media/exactly-once-demo.mp4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937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s: Bob pays Ada 1.00 “burger”. Pay again with the same fields: nothing happens. Change the note to “burger 1”: a new payment.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417320"/>
          <a:ext cx="4389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on the stage 4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send of 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201; Bob 15.00 to 14.00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key, same body (a retry)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 identical body; Bob stays 14.00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key, different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 idempotency_key_reuse; nothing moves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concurrent identical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201, 49 × 200; one 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23760" y="41148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spec says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balances always sum to the seeded total, even under concurrent and retried writes.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R3, R59–R62: every idempotent write takes effect at most once; a replay returns the original answer.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R116: resubmitting an unchanged pay form never sends another payment.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room: agents handing work to each other</a:t>
            </a:r>
            <a:endParaRPr lang="en-US" sz="3200" dirty="0"/>
          </a:p>
        </p:txBody>
      </p:sp>
      <p:pic>
        <p:nvPicPr>
          <p:cNvPr id="3" name="video still" descr="Still frame of the video">
            <a:hlinkClick r:id="rId2" tooltip="Play the video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371600"/>
            <a:ext cx="8686800" cy="489204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7360" y="1371600"/>
            <a:ext cx="8686800" cy="4892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73736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D9A8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Watch the video (opens GitHub): media/band-room-handoffs.mp4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1737360" y="62636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console, stage 3 room: tester, reviewer and coordinator acknowledge, de-duplicate and merge. File: media/band-room-handoffs.mp4.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B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factory catches bad work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3F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example from the 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Contradictory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Tester's completeness review, before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4: R303's wording contradicted its own acceptance criterion about who is debited on a refund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behaviour, tests 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Reviewer's own black-box probes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R79: validation precedence was wrong while 112 of 112 unit tests 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defect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at two widths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2: authorization errors rendered in the wrong part of the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 stress probes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R218: reset never checked the opening balance was non-negative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on real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exercises export and 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3: export crashed once a statement snapshot existed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Unfinished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Close-out roll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4: a stale RUN.md label caught in verification, fixed before the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5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gate: no stage report until every seat replies “clear”, no branch is left unmerged and every handoff is answered.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cost, and what we won't claim</a:t>
            </a:r>
            <a:endParaRPr lang="en-US" sz="3200" dirty="0"/>
          </a:p>
        </p:txBody>
      </p:sp>
      <p:pic>
        <p:nvPicPr>
          <p:cNvPr id="3" name="chart hours and messages per stage" descr="Wall-clock hours and messages per stage, run 1 versus run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772400" cy="3273552"/>
          </a:xfrm>
          <a:prstGeom prst="rect">
            <a:avLst/>
          </a:prstGeom>
        </p:spPr>
      </p:pic>
      <p:sp>
        <p:nvSpPr>
          <p:cNvPr id="4" name="cost totals card"/>
          <p:cNvSpPr/>
          <p:nvPr/>
        </p:nvSpPr>
        <p:spPr>
          <a:xfrm>
            <a:off x="8503920" y="141732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60020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Featherless</a:t>
            </a:r>
            <a:endParaRPr lang="en-US" sz="1300" dirty="0"/>
          </a:p>
          <a:p>
            <a:pPr indent="0" marL="0">
              <a:buNone/>
            </a:pPr>
            <a:r>
              <a:rPr lang="en-US" sz="28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$25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about $10.50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seats</a:t>
            </a:r>
            <a:endParaRPr lang="en-US" sz="13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49%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one Pro plan's weekly limit, plus a little paid extra at the end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spent more, not less: </a:t>
            </a:r>
            <a:pPr indent="0" marL="0">
              <a:buNone/>
            </a:pPr>
            <a:r>
              <a:rPr lang="en-US" sz="15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 messages, 25.6 h to 29.8 h, about $10.50 to $25. It bought verification: 35 screenshots, a visual review per UI batch, a close-out roll call per stage, and five rejections caught and fixed. We did not isolate what each part cost, so we claim no saving.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still fails, and what we would do next</a:t>
            </a:r>
            <a:endParaRPr lang="en-US" sz="3200" dirty="0"/>
          </a:p>
        </p:txBody>
      </p:sp>
      <p:sp>
        <p:nvSpPr>
          <p:cNvPr id="3" name="next card 1"/>
          <p:cNvSpPr/>
          <p:nvPr/>
        </p:nvSpPr>
        <p:spPr>
          <a:xfrm>
            <a:off x="548640" y="14630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by task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tasks keep the cheaper model; UI, concurrency and money invariants go to a stronger one, chosen at run time. A hypothesis for the next run, not a result.</a:t>
            </a:r>
            <a:endParaRPr lang="en-US" sz="1500" dirty="0"/>
          </a:p>
        </p:txBody>
      </p:sp>
      <p:sp>
        <p:nvSpPr>
          <p:cNvPr id="6" name="next card 2"/>
          <p:cNvSpPr/>
          <p:nvPr/>
        </p:nvSpPr>
        <p:spPr>
          <a:xfrm>
            <a:off x="4297680" y="14630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stalls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3774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of 42 ticks hit a coordinator that was at its Claude limit. Next: read the reset time from the error and stay silent until then, and add a failover model for the Claude seats.</a:t>
            </a:r>
            <a:endParaRPr lang="en-US" sz="1500" dirty="0"/>
          </a:p>
        </p:txBody>
      </p:sp>
      <p:sp>
        <p:nvSpPr>
          <p:cNvPr id="9" name="next card 3"/>
          <p:cNvSpPr/>
          <p:nvPr/>
        </p:nvSpPr>
        <p:spPr>
          <a:xfrm>
            <a:off x="8046720" y="14630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BF9F4"/>
          </a:solidFill>
          <a:ln w="9525">
            <a:solidFill>
              <a:srgbClr val="D9D3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5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handoff gap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3774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task that does not tell the coordinator leaves it waiting for a wake-up. Next: treat a merge notice as done, and re-ping any seat whose last turn failed.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open: branches built from the latest main still go stale when a parallel batch merges first (10 reviewer reports, run 1: 12).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A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bble logo" descr="Pebble logo: stacked st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1280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3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base.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A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stone by stone, by agents.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301752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github.com/JahnaviSrilekha/payment-app-by-autonomous-agents-hackathon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2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8A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FACTORY.md for the design, costs and failures; README.md to run 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stage-4 &amp;&amp; PORT=8080 python3 src/server.py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A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CoolHackers · WeAreDevelopers × BAND Dark Factory · pocketful track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B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bble">
  <a:themeElements>
    <a:clrScheme name="Pebble">
      <a:dk1>
        <a:srgbClr val="2B2A27"/>
      </a:dk1>
      <a:lt1>
        <a:srgbClr val="F3F0E8"/>
      </a:lt1>
      <a:dk2>
        <a:srgbClr val="5F6A73"/>
      </a:dk2>
      <a:lt2>
        <a:srgbClr val="E4DFD3"/>
      </a:lt2>
      <a:accent1>
        <a:srgbClr val="C0583C"/>
      </a:accent1>
      <a:accent2>
        <a:srgbClr val="5F6A73"/>
      </a:accent2>
      <a:accent3>
        <a:srgbClr val="B8AB96"/>
      </a:accent3>
      <a:accent4>
        <a:srgbClr val="3E4A52"/>
      </a:accent4>
      <a:accent5>
        <a:srgbClr val="8C9A8F"/>
      </a:accent5>
      <a:accent6>
        <a:srgbClr val="D9A88F"/>
      </a:accent6>
      <a:hlink>
        <a:srgbClr val="C0583C"/>
      </a:hlink>
      <a:folHlink>
        <a:srgbClr val="5F6A73"/>
      </a:folHlink>
    </a:clrScheme>
    <a:fontScheme name="Pebb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Pebble: a payments app built by an agent factory</dc:title>
  <dc:subject>PptxGenJS Presentation</dc:subject>
  <dc:creator>CoolHackers</dc:creator>
  <cp:lastModifiedBy>CoolHackers</cp:lastModifiedBy>
  <cp:revision>1</cp:revision>
  <dcterms:created xsi:type="dcterms:W3CDTF">2026-10-04T23:51:20Z</dcterms:created>
  <dcterms:modified xsi:type="dcterms:W3CDTF">2026-10-04T23:51:20Z</dcterms:modified>
</cp:coreProperties>
</file>